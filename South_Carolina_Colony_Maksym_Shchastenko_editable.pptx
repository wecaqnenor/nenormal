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35000" y="857250"/>
            <a:ext cx="635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D97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AMERICAN COLONIES   ·   RESEARCH PROJECT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35000" y="1555750"/>
            <a:ext cx="6032500" cy="222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6600" dirty="0">
                <a:solidFill>
                  <a:srgbClr val="EDEB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South</a:t>
            </a:r>
            <a:endParaRPr lang="en-US" sz="6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6600" dirty="0">
                <a:solidFill>
                  <a:srgbClr val="EDEB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Carolina</a:t>
            </a:r>
            <a:endParaRPr lang="en-US" sz="6600" dirty="0"/>
          </a:p>
        </p:txBody>
      </p:sp>
      <p:sp>
        <p:nvSpPr>
          <p:cNvPr id="4" name="Text 2"/>
          <p:cNvSpPr txBox="1"/>
          <p:nvPr/>
        </p:nvSpPr>
        <p:spPr>
          <a:xfrm>
            <a:off x="635000" y="3841750"/>
            <a:ext cx="5715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i="1" dirty="0">
                <a:solidFill>
                  <a:srgbClr val="B9BAC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Palmetto Colony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635000" y="4381500"/>
            <a:ext cx="5715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100" kern="0" dirty="0">
                <a:solidFill>
                  <a:srgbClr val="6F72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Founded 1670   ·   Southern Colonies</a:t>
            </a:r>
            <a:endParaRPr lang="en-US" sz="1400" dirty="0"/>
          </a:p>
        </p:txBody>
      </p:sp>
      <p:sp>
        <p:nvSpPr>
          <p:cNvPr id="6" name="Name card"/>
          <p:cNvSpPr/>
          <p:nvPr/>
        </p:nvSpPr>
        <p:spPr>
          <a:xfrm>
            <a:off x="635000" y="5257800"/>
            <a:ext cx="3752850" cy="908050"/>
          </a:xfrm>
          <a:prstGeom prst="roundRect">
            <a:avLst>
              <a:gd name="adj" fmla="val 20140"/>
            </a:avLst>
          </a:prstGeom>
          <a:solidFill>
            <a:srgbClr val="17181D"/>
          </a:solidFill>
          <a:ln w="12700">
            <a:solidFill>
              <a:srgbClr val="2B2D3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9950" y="5397500"/>
            <a:ext cx="254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97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869950" y="5651500"/>
            <a:ext cx="3429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EDEB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Maksym Shchastenko</a:t>
            </a:r>
            <a:endParaRPr lang="en-US" sz="1900" dirty="0"/>
          </a:p>
        </p:txBody>
      </p:sp>
      <p:sp>
        <p:nvSpPr>
          <p:cNvPr id="9" name="Period card"/>
          <p:cNvSpPr/>
          <p:nvPr/>
        </p:nvSpPr>
        <p:spPr>
          <a:xfrm>
            <a:off x="4572000" y="5257800"/>
            <a:ext cx="1733550" cy="908050"/>
          </a:xfrm>
          <a:prstGeom prst="roundRect">
            <a:avLst>
              <a:gd name="adj" fmla="val 20140"/>
            </a:avLst>
          </a:prstGeom>
          <a:solidFill>
            <a:srgbClr val="17181D"/>
          </a:solidFill>
          <a:ln w="12700">
            <a:solidFill>
              <a:srgbClr val="2B2D3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00600" y="5397500"/>
            <a:ext cx="1397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97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800600" y="5651500"/>
            <a:ext cx="1397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EDEB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900" dirty="0"/>
          </a:p>
        </p:txBody>
      </p:sp>
      <p:pic>
        <p:nvPicPr>
          <p:cNvPr id="12" name="Fig 1 illustration" descr="Illustration: Charles Town harbor by moonligh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1550" y="450850"/>
            <a:ext cx="4394200" cy="508000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7321550" y="5670550"/>
            <a:ext cx="4394200" cy="774700"/>
          </a:xfrm>
          <a:prstGeom prst="roundRect">
            <a:avLst>
              <a:gd name="adj" fmla="val 18885"/>
            </a:avLst>
          </a:prstGeom>
          <a:solidFill>
            <a:srgbClr val="17181D"/>
          </a:solidFill>
          <a:ln w="12700">
            <a:solidFill>
              <a:srgbClr val="2B2D35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518400" y="5778500"/>
            <a:ext cx="403225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7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1   </a:t>
            </a:r>
            <a:pPr indent="0" marL="0">
              <a:buNone/>
            </a:pPr>
            <a:r>
              <a:rPr lang="en-US" sz="1150" dirty="0">
                <a:solidFill>
                  <a:srgbClr val="AEB1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Illustration: Charles Town harbor by moonlight. Ships carried rice, indigo and deerskins to Europe; the palmetto became South Carolina’s symbol.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6100" y="323850"/>
            <a:ext cx="762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D97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 /   FOUNDING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6100" y="635000"/>
            <a:ext cx="1016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EDEB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Founding of the Colony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6100" y="6464300"/>
            <a:ext cx="508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0" kern="0" dirty="0">
                <a:solidFill>
                  <a:srgbClr val="6F72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 CAROLINA   ·   1670–1783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95000" y="6445250"/>
            <a:ext cx="844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72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6100" y="1600200"/>
            <a:ext cx="3517900" cy="3333750"/>
          </a:xfrm>
          <a:prstGeom prst="roundRect">
            <a:avLst>
              <a:gd name="adj" fmla="val 5486"/>
            </a:avLst>
          </a:prstGeom>
          <a:solidFill>
            <a:srgbClr val="17181D"/>
          </a:solidFill>
          <a:ln w="12700">
            <a:solidFill>
              <a:srgbClr val="2B2D35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25500" y="1873250"/>
            <a:ext cx="254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D97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825500" y="2235200"/>
            <a:ext cx="3048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EDEB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1670</a:t>
            </a:r>
            <a:endParaRPr lang="en-US" sz="3400" dirty="0"/>
          </a:p>
        </p:txBody>
      </p:sp>
      <p:sp>
        <p:nvSpPr>
          <p:cNvPr id="10" name="Text 7"/>
          <p:cNvSpPr txBox="1"/>
          <p:nvPr/>
        </p:nvSpPr>
        <p:spPr>
          <a:xfrm>
            <a:off x="825500" y="3035300"/>
            <a:ext cx="29845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AEB1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1670: about 130 English settlers land at Albemarle Point on the Ashley River. In 1680 the town moves to Oyster Point, today’s Charleston.</a:t>
            </a:r>
            <a:endParaRPr lang="en-US" sz="1550" dirty="0"/>
          </a:p>
        </p:txBody>
      </p:sp>
      <p:sp>
        <p:nvSpPr>
          <p:cNvPr id="11" name="Shape 8"/>
          <p:cNvSpPr/>
          <p:nvPr/>
        </p:nvSpPr>
        <p:spPr>
          <a:xfrm>
            <a:off x="4337050" y="1600200"/>
            <a:ext cx="3517900" cy="3333750"/>
          </a:xfrm>
          <a:prstGeom prst="roundRect">
            <a:avLst>
              <a:gd name="adj" fmla="val 5486"/>
            </a:avLst>
          </a:prstGeom>
          <a:solidFill>
            <a:srgbClr val="17181D"/>
          </a:solidFill>
          <a:ln w="12700">
            <a:solidFill>
              <a:srgbClr val="2B2D35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616450" y="1873250"/>
            <a:ext cx="254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D97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4616450" y="2235200"/>
            <a:ext cx="3048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EDEB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Lords Proprietors</a:t>
            </a:r>
            <a:endParaRPr lang="en-US" sz="2500" dirty="0"/>
          </a:p>
        </p:txBody>
      </p:sp>
      <p:sp>
        <p:nvSpPr>
          <p:cNvPr id="14" name="Text 11"/>
          <p:cNvSpPr txBox="1"/>
          <p:nvPr/>
        </p:nvSpPr>
        <p:spPr>
          <a:xfrm>
            <a:off x="4616450" y="3035300"/>
            <a:ext cx="29845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AEB1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1663 King Charles II gave Carolina to eight loyal supporters. William Sayle became the first governor, and settlers came from England and Barbados.</a:t>
            </a:r>
            <a:endParaRPr lang="en-US" sz="1550" dirty="0"/>
          </a:p>
        </p:txBody>
      </p:sp>
      <p:sp>
        <p:nvSpPr>
          <p:cNvPr id="15" name="Shape 12"/>
          <p:cNvSpPr/>
          <p:nvPr/>
        </p:nvSpPr>
        <p:spPr>
          <a:xfrm>
            <a:off x="8128000" y="1600200"/>
            <a:ext cx="3517900" cy="3333750"/>
          </a:xfrm>
          <a:prstGeom prst="roundRect">
            <a:avLst>
              <a:gd name="adj" fmla="val 5486"/>
            </a:avLst>
          </a:prstGeom>
          <a:solidFill>
            <a:srgbClr val="17181D"/>
          </a:solidFill>
          <a:ln w="12700">
            <a:solidFill>
              <a:srgbClr val="2B2D35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407400" y="1873250"/>
            <a:ext cx="254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D97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8407400" y="2235200"/>
            <a:ext cx="3048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EDEB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Land &amp; profit</a:t>
            </a:r>
            <a:endParaRPr lang="en-US" sz="2500" dirty="0"/>
          </a:p>
        </p:txBody>
      </p:sp>
      <p:sp>
        <p:nvSpPr>
          <p:cNvPr id="18" name="Text 15"/>
          <p:cNvSpPr txBox="1"/>
          <p:nvPr/>
        </p:nvSpPr>
        <p:spPr>
          <a:xfrm>
            <a:off x="8407400" y="3035300"/>
            <a:ext cx="29845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AEB1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Proprietors wanted wealth from land and trade. They offered land grants and religious freedom to fill the territory between Virginia and Spanish Florida.</a:t>
            </a:r>
            <a:endParaRPr lang="en-US" sz="1550" dirty="0"/>
          </a:p>
        </p:txBody>
      </p:sp>
      <p:sp>
        <p:nvSpPr>
          <p:cNvPr id="19" name="Shape 16"/>
          <p:cNvSpPr/>
          <p:nvPr/>
        </p:nvSpPr>
        <p:spPr>
          <a:xfrm>
            <a:off x="546100" y="5168900"/>
            <a:ext cx="11093450" cy="996950"/>
          </a:xfrm>
          <a:prstGeom prst="roundRect">
            <a:avLst>
              <a:gd name="adj" fmla="val 16510"/>
            </a:avLst>
          </a:prstGeom>
          <a:solidFill>
            <a:srgbClr val="321F26"/>
          </a:solidFill>
          <a:ln w="12700">
            <a:solidFill>
              <a:srgbClr val="B4415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25500" y="5321300"/>
            <a:ext cx="10541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D970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short:  </a:t>
            </a:r>
            <a:pPr indent="0" marL="0">
              <a:buNone/>
            </a:pPr>
            <a:r>
              <a:rPr lang="en-US" sz="1700" i="1" dirty="0">
                <a:solidFill>
                  <a:srgbClr val="EDEB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king paid back eight allies with a colony, and its owners built Charles Town to turn Carolina’s land into profit.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6100" y="323850"/>
            <a:ext cx="762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D97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 /   REGION &amp; RELIGION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6100" y="635000"/>
            <a:ext cx="1016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EDEB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Region &amp; Religion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6100" y="6464300"/>
            <a:ext cx="508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0" kern="0" dirty="0">
                <a:solidFill>
                  <a:srgbClr val="6F72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 CAROLINA   ·   1670–1783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95000" y="6445250"/>
            <a:ext cx="844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72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6100" y="1600200"/>
            <a:ext cx="4114800" cy="4565650"/>
          </a:xfrm>
          <a:prstGeom prst="roundRect">
            <a:avLst>
              <a:gd name="adj" fmla="val 4444"/>
            </a:avLst>
          </a:prstGeom>
          <a:solidFill>
            <a:srgbClr val="17181D"/>
          </a:solidFill>
          <a:ln w="12700">
            <a:solidFill>
              <a:srgbClr val="2B2D35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25500" y="1873250"/>
            <a:ext cx="254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D97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819150" y="2286000"/>
            <a:ext cx="3568700" cy="603250"/>
          </a:xfrm>
          <a:prstGeom prst="roundRect">
            <a:avLst>
              <a:gd name="adj" fmla="val 50000"/>
            </a:avLst>
          </a:prstGeom>
          <a:solidFill>
            <a:srgbClr val="1C1F26"/>
          </a:solidFill>
          <a:ln w="12700">
            <a:solidFill>
              <a:srgbClr val="2C2F3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092200" y="2286000"/>
            <a:ext cx="3175000" cy="603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E73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 England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819150" y="3067050"/>
            <a:ext cx="3568700" cy="603250"/>
          </a:xfrm>
          <a:prstGeom prst="roundRect">
            <a:avLst>
              <a:gd name="adj" fmla="val 50000"/>
            </a:avLst>
          </a:prstGeom>
          <a:solidFill>
            <a:srgbClr val="1C1F26"/>
          </a:solidFill>
          <a:ln w="12700">
            <a:solidFill>
              <a:srgbClr val="2C2F3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092200" y="3067050"/>
            <a:ext cx="3175000" cy="603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E73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Middle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819150" y="3848100"/>
            <a:ext cx="3568700" cy="603250"/>
          </a:xfrm>
          <a:prstGeom prst="roundRect">
            <a:avLst>
              <a:gd name="adj" fmla="val 50000"/>
            </a:avLst>
          </a:prstGeom>
          <a:solidFill>
            <a:srgbClr val="B44150"/>
          </a:solidFill>
          <a:ln w="12700">
            <a:solidFill>
              <a:srgbClr val="B44150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092200" y="3848100"/>
            <a:ext cx="3175000" cy="603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Southern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825500" y="4749800"/>
            <a:ext cx="355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EB1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Southern Colonies: a warm climate, a long growing season and large plantations growing cash crops (rice, indigo) for export.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4940300" y="1600200"/>
            <a:ext cx="6699250" cy="4565650"/>
          </a:xfrm>
          <a:prstGeom prst="roundRect">
            <a:avLst>
              <a:gd name="adj" fmla="val 4006"/>
            </a:avLst>
          </a:prstGeom>
          <a:solidFill>
            <a:srgbClr val="17181D"/>
          </a:solidFill>
          <a:ln w="12700">
            <a:solidFill>
              <a:srgbClr val="2B2D35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207000" y="1873250"/>
            <a:ext cx="254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D97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RELIGION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5207000" y="2286000"/>
            <a:ext cx="1333500" cy="457200"/>
          </a:xfrm>
          <a:prstGeom prst="roundRect">
            <a:avLst>
              <a:gd name="adj" fmla="val 50000"/>
            </a:avLst>
          </a:prstGeom>
          <a:solidFill>
            <a:srgbClr val="1C1F26"/>
          </a:solidFill>
          <a:ln w="12700">
            <a:solidFill>
              <a:srgbClr val="2C2F38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207000" y="2286000"/>
            <a:ext cx="1333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7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1670s–1700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6762750" y="2235200"/>
            <a:ext cx="466725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1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Founders promised “full and free Liberty of Conscience,” drawing Presbyterians, Baptists and French Huguenots.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5207000" y="3225800"/>
            <a:ext cx="1333500" cy="457200"/>
          </a:xfrm>
          <a:prstGeom prst="roundRect">
            <a:avLst>
              <a:gd name="adj" fmla="val 50000"/>
            </a:avLst>
          </a:prstGeom>
          <a:solidFill>
            <a:srgbClr val="1C1F26"/>
          </a:solidFill>
          <a:ln w="12700">
            <a:solidFill>
              <a:srgbClr val="2C2F38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207000" y="3225800"/>
            <a:ext cx="1333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7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1706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6762750" y="3175000"/>
            <a:ext cx="466725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1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Church Act made the Church of England the official, tax-supported church and split the colony into ten parishes.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5207000" y="4165600"/>
            <a:ext cx="1333500" cy="457200"/>
          </a:xfrm>
          <a:prstGeom prst="roundRect">
            <a:avLst>
              <a:gd name="adj" fmla="val 50000"/>
            </a:avLst>
          </a:prstGeom>
          <a:solidFill>
            <a:srgbClr val="1C1F26"/>
          </a:solidFill>
          <a:ln w="12700">
            <a:solidFill>
              <a:srgbClr val="2C2F38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5207000" y="4165600"/>
            <a:ext cx="1333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7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1706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6762750" y="4114800"/>
            <a:ext cx="466725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1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Dissenters and Jews could still vote and worship; Catholics were shut out of colonial life for most of the 1700s.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5207000" y="5105400"/>
            <a:ext cx="1333500" cy="457200"/>
          </a:xfrm>
          <a:prstGeom prst="roundRect">
            <a:avLst>
              <a:gd name="adj" fmla="val 50000"/>
            </a:avLst>
          </a:prstGeom>
          <a:solidFill>
            <a:srgbClr val="1C1F26"/>
          </a:solidFill>
          <a:ln w="12700">
            <a:solidFill>
              <a:srgbClr val="2C2F38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5207000" y="5105400"/>
            <a:ext cx="1333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7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6762750" y="5054600"/>
            <a:ext cx="466725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1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Parish vestries were the only local government from 1716 until the Revolution. The Church was disestablished in 1778.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6100" y="323850"/>
            <a:ext cx="762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D97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 /   ECONOMICS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6100" y="635000"/>
            <a:ext cx="1016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EDEB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Economics: Rice, Indigo &amp; Trade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6100" y="6464300"/>
            <a:ext cx="508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0" kern="0" dirty="0">
                <a:solidFill>
                  <a:srgbClr val="6F72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 CAROLINA   ·   1670–1783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95000" y="6445250"/>
            <a:ext cx="844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72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pic>
        <p:nvPicPr>
          <p:cNvPr id="7" name="Fig 2 illustration" descr="Illustration: flooded rice fields in the Lowcountry at dus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450" y="1600200"/>
            <a:ext cx="5118100" cy="329565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46100" y="5029200"/>
            <a:ext cx="5124450" cy="1136650"/>
          </a:xfrm>
          <a:prstGeom prst="roundRect">
            <a:avLst>
              <a:gd name="adj" fmla="val 12872"/>
            </a:avLst>
          </a:prstGeom>
          <a:solidFill>
            <a:srgbClr val="17181D"/>
          </a:solidFill>
          <a:ln w="12700">
            <a:solidFill>
              <a:srgbClr val="2B2D35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749300" y="5207000"/>
            <a:ext cx="4730750" cy="793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7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2   </a:t>
            </a:r>
            <a:pPr indent="0" marL="0">
              <a:buNone/>
            </a:pPr>
            <a:r>
              <a:rPr lang="en-US" sz="1150" dirty="0">
                <a:solidFill>
                  <a:srgbClr val="AEB1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Illustration: flooded rice fields in the Lowcountry at dusk. Enslaved Africans dug and worked these fields, and rice became the colony’s dominant cash crop.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5988050" y="1600200"/>
            <a:ext cx="2743200" cy="1784350"/>
          </a:xfrm>
          <a:prstGeom prst="roundRect">
            <a:avLst>
              <a:gd name="adj" fmla="val 10249"/>
            </a:avLst>
          </a:prstGeom>
          <a:solidFill>
            <a:srgbClr val="17181D"/>
          </a:solidFill>
          <a:ln w="12700">
            <a:solidFill>
              <a:srgbClr val="2B2D35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6216650" y="1790700"/>
            <a:ext cx="2349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DEB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Deerskins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6216650" y="2235200"/>
            <a:ext cx="23495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EB1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big business: trading deerskins with Native Americans.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8896350" y="1600200"/>
            <a:ext cx="2743200" cy="1784350"/>
          </a:xfrm>
          <a:prstGeom prst="roundRect">
            <a:avLst>
              <a:gd name="adj" fmla="val 10249"/>
            </a:avLst>
          </a:prstGeom>
          <a:solidFill>
            <a:srgbClr val="17181D"/>
          </a:solidFill>
          <a:ln w="12700">
            <a:solidFill>
              <a:srgbClr val="2B2D35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9124950" y="1790700"/>
            <a:ext cx="2349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DEB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Rice</a:t>
            </a:r>
            <a:endParaRPr lang="en-US" sz="2000" dirty="0"/>
          </a:p>
        </p:txBody>
      </p:sp>
      <p:sp>
        <p:nvSpPr>
          <p:cNvPr id="15" name="Text 11"/>
          <p:cNvSpPr txBox="1"/>
          <p:nvPr/>
        </p:nvSpPr>
        <p:spPr>
          <a:xfrm>
            <a:off x="9124950" y="2235200"/>
            <a:ext cx="23495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EB1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1700, rice was becoming the top crop. Enslaved West Africans’ skills made it pay.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5988050" y="3549650"/>
            <a:ext cx="2743200" cy="1784350"/>
          </a:xfrm>
          <a:prstGeom prst="roundRect">
            <a:avLst>
              <a:gd name="adj" fmla="val 10249"/>
            </a:avLst>
          </a:prstGeom>
          <a:solidFill>
            <a:srgbClr val="17181D"/>
          </a:solidFill>
          <a:ln w="12700">
            <a:solidFill>
              <a:srgbClr val="2B2D35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6216650" y="3740150"/>
            <a:ext cx="2349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DEB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Indigo</a:t>
            </a:r>
            <a:endParaRPr lang="en-US" sz="2000" dirty="0"/>
          </a:p>
        </p:txBody>
      </p:sp>
      <p:sp>
        <p:nvSpPr>
          <p:cNvPr id="18" name="Text 14"/>
          <p:cNvSpPr txBox="1"/>
          <p:nvPr/>
        </p:nvSpPr>
        <p:spPr>
          <a:xfrm>
            <a:off x="6216650" y="4184650"/>
            <a:ext cx="23495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EB1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Eliza Lucas Pinckney made it work in the 1740s. One-third of exports by the Revolution.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8896350" y="3549650"/>
            <a:ext cx="2743200" cy="1784350"/>
          </a:xfrm>
          <a:prstGeom prst="roundRect">
            <a:avLst>
              <a:gd name="adj" fmla="val 10249"/>
            </a:avLst>
          </a:prstGeom>
          <a:solidFill>
            <a:srgbClr val="17181D"/>
          </a:solidFill>
          <a:ln w="12700">
            <a:solidFill>
              <a:srgbClr val="2B2D35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9124950" y="3740150"/>
            <a:ext cx="2349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DEB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 trade</a:t>
            </a:r>
            <a:endParaRPr lang="en-US" sz="2000" dirty="0"/>
          </a:p>
        </p:txBody>
      </p:sp>
      <p:sp>
        <p:nvSpPr>
          <p:cNvPr id="21" name="Text 17"/>
          <p:cNvSpPr txBox="1"/>
          <p:nvPr/>
        </p:nvSpPr>
        <p:spPr>
          <a:xfrm>
            <a:off x="9124950" y="4184650"/>
            <a:ext cx="23495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EB1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Charles Town shipped crops to Britain and imported goods, rum, sugar and enslaved Africans.</a:t>
            </a:r>
            <a:endParaRPr lang="en-US" sz="1400" dirty="0"/>
          </a:p>
        </p:txBody>
      </p:sp>
      <p:sp>
        <p:nvSpPr>
          <p:cNvPr id="22" name="Shape 18"/>
          <p:cNvSpPr/>
          <p:nvPr/>
        </p:nvSpPr>
        <p:spPr>
          <a:xfrm>
            <a:off x="5988050" y="5486400"/>
            <a:ext cx="5651500" cy="679450"/>
          </a:xfrm>
          <a:prstGeom prst="roundRect">
            <a:avLst>
              <a:gd name="adj" fmla="val 21533"/>
            </a:avLst>
          </a:prstGeom>
          <a:solidFill>
            <a:srgbClr val="321F26"/>
          </a:solidFill>
          <a:ln w="12700">
            <a:solidFill>
              <a:srgbClr val="B44150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6216650" y="5537200"/>
            <a:ext cx="5270500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forced labor: </a:t>
            </a:r>
            <a:pPr indent="0" marL="0">
              <a:buNone/>
            </a:pPr>
            <a:r>
              <a:rPr lang="en-US" sz="1400" dirty="0">
                <a:solidFill>
                  <a:srgbClr val="EDEB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enslaved Africans grew the crops. By about 1708, Black people were the majority of the colony.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6100" y="323850"/>
            <a:ext cx="762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D97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 /   GEOGRAPHY &amp; CLIMATE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6100" y="635000"/>
            <a:ext cx="1016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EDEB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Geography &amp; Climate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6100" y="6464300"/>
            <a:ext cx="508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0" kern="0" dirty="0">
                <a:solidFill>
                  <a:srgbClr val="6F72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 CAROLINA   ·   1670–1783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95000" y="6445250"/>
            <a:ext cx="844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72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7" name="Cross-section panel"/>
          <p:cNvSpPr/>
          <p:nvPr/>
        </p:nvSpPr>
        <p:spPr>
          <a:xfrm>
            <a:off x="546100" y="1600200"/>
            <a:ext cx="7048500" cy="2451100"/>
          </a:xfrm>
          <a:prstGeom prst="roundRect">
            <a:avLst>
              <a:gd name="adj" fmla="val 7461"/>
            </a:avLst>
          </a:prstGeom>
          <a:solidFill>
            <a:srgbClr val="121318"/>
          </a:solidFill>
          <a:ln w="12700">
            <a:solidFill>
              <a:srgbClr val="1E2026"/>
            </a:solidFill>
            <a:prstDash val="solid"/>
          </a:ln>
        </p:spPr>
      </p:sp>
      <p:sp>
        <p:nvSpPr>
          <p:cNvPr id="8" name="Land profile"/>
          <p:cNvSpPr/>
          <p:nvPr/>
        </p:nvSpPr>
        <p:spPr>
          <a:xfrm>
            <a:off x="546100" y="1600200"/>
            <a:ext cx="7048500" cy="2451100"/>
          </a:xfrm>
          <a:custGeom>
            <a:avLst/>
            <a:gdLst/>
            <a:ahLst/>
            <a:cxnLst/>
            <a:rect l="l" t="t" r="r" b="b"/>
            <a:pathLst>
              <a:path w="7048500" h="2451100">
                <a:moveTo>
                  <a:pt x="0" y="749300"/>
                </a:moveTo>
                <a:lnTo>
                  <a:pt x="190500" y="698500"/>
                </a:lnTo>
                <a:lnTo>
                  <a:pt x="412750" y="800100"/>
                </a:lnTo>
                <a:lnTo>
                  <a:pt x="635000" y="793750"/>
                </a:lnTo>
                <a:lnTo>
                  <a:pt x="793750" y="895350"/>
                </a:lnTo>
                <a:lnTo>
                  <a:pt x="984250" y="1117600"/>
                </a:lnTo>
                <a:lnTo>
                  <a:pt x="1238250" y="1339850"/>
                </a:lnTo>
                <a:lnTo>
                  <a:pt x="1555750" y="1441450"/>
                </a:lnTo>
                <a:lnTo>
                  <a:pt x="1841500" y="1454150"/>
                </a:lnTo>
                <a:lnTo>
                  <a:pt x="2190750" y="1562100"/>
                </a:lnTo>
                <a:lnTo>
                  <a:pt x="2571750" y="1644650"/>
                </a:lnTo>
                <a:lnTo>
                  <a:pt x="2959100" y="1809750"/>
                </a:lnTo>
                <a:lnTo>
                  <a:pt x="3206750" y="1885950"/>
                </a:lnTo>
                <a:lnTo>
                  <a:pt x="3937000" y="1987550"/>
                </a:lnTo>
                <a:lnTo>
                  <a:pt x="4889500" y="2082800"/>
                </a:lnTo>
                <a:lnTo>
                  <a:pt x="5842000" y="2184400"/>
                </a:lnTo>
                <a:lnTo>
                  <a:pt x="6350000" y="2254250"/>
                </a:lnTo>
                <a:lnTo>
                  <a:pt x="7048500" y="2298700"/>
                </a:lnTo>
                <a:lnTo>
                  <a:pt x="7048500" y="2362200"/>
                </a:lnTo>
                <a:lnTo>
                  <a:pt x="0" y="2362200"/>
                </a:lnTo>
                <a:close/>
              </a:path>
            </a:pathLst>
          </a:custGeom>
          <a:solidFill>
            <a:srgbClr val="20232C"/>
          </a:solidFill>
          <a:ln/>
        </p:spPr>
      </p:sp>
      <p:sp>
        <p:nvSpPr>
          <p:cNvPr id="9" name="Elevation line"/>
          <p:cNvSpPr/>
          <p:nvPr/>
        </p:nvSpPr>
        <p:spPr>
          <a:xfrm>
            <a:off x="546100" y="1600200"/>
            <a:ext cx="7048500" cy="2451100"/>
          </a:xfrm>
          <a:custGeom>
            <a:avLst/>
            <a:gdLst/>
            <a:ahLst/>
            <a:cxnLst/>
            <a:rect l="l" t="t" r="r" b="b"/>
            <a:pathLst>
              <a:path w="7048500" h="2451100">
                <a:moveTo>
                  <a:pt x="0" y="749300"/>
                </a:moveTo>
                <a:lnTo>
                  <a:pt x="190500" y="698500"/>
                </a:lnTo>
                <a:lnTo>
                  <a:pt x="412750" y="800100"/>
                </a:lnTo>
                <a:lnTo>
                  <a:pt x="635000" y="793750"/>
                </a:lnTo>
                <a:lnTo>
                  <a:pt x="793750" y="895350"/>
                </a:lnTo>
                <a:lnTo>
                  <a:pt x="984250" y="1117600"/>
                </a:lnTo>
                <a:lnTo>
                  <a:pt x="1238250" y="1339850"/>
                </a:lnTo>
                <a:lnTo>
                  <a:pt x="1555750" y="1441450"/>
                </a:lnTo>
                <a:lnTo>
                  <a:pt x="1841500" y="1454150"/>
                </a:lnTo>
                <a:lnTo>
                  <a:pt x="2190750" y="1562100"/>
                </a:lnTo>
                <a:lnTo>
                  <a:pt x="2571750" y="1644650"/>
                </a:lnTo>
                <a:lnTo>
                  <a:pt x="2959100" y="1809750"/>
                </a:lnTo>
                <a:lnTo>
                  <a:pt x="3206750" y="1885950"/>
                </a:lnTo>
                <a:lnTo>
                  <a:pt x="3937000" y="1987550"/>
                </a:lnTo>
                <a:lnTo>
                  <a:pt x="4889500" y="2082800"/>
                </a:lnTo>
                <a:lnTo>
                  <a:pt x="5842000" y="2184400"/>
                </a:lnTo>
                <a:lnTo>
                  <a:pt x="6350000" y="2254250"/>
                </a:lnTo>
                <a:lnTo>
                  <a:pt x="7048500" y="2298700"/>
                </a:lnTo>
              </a:path>
            </a:pathLst>
          </a:custGeom>
          <a:noFill/>
          <a:ln w="25400">
            <a:solidFill>
              <a:srgbClr val="A3A7B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536700" y="3079750"/>
            <a:ext cx="0" cy="927100"/>
          </a:xfrm>
          <a:prstGeom prst="line">
            <a:avLst/>
          </a:prstGeom>
          <a:noFill/>
          <a:ln w="12700">
            <a:solidFill>
              <a:srgbClr val="393C4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489450" y="3079750"/>
            <a:ext cx="0" cy="927100"/>
          </a:xfrm>
          <a:prstGeom prst="line">
            <a:avLst/>
          </a:prstGeom>
          <a:noFill/>
          <a:ln w="12700">
            <a:solidFill>
              <a:srgbClr val="393C4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889750" y="3079750"/>
            <a:ext cx="0" cy="927100"/>
          </a:xfrm>
          <a:prstGeom prst="line">
            <a:avLst/>
          </a:prstGeom>
          <a:noFill/>
          <a:ln w="12700">
            <a:solidFill>
              <a:srgbClr val="393C46"/>
            </a:solidFill>
            <a:prstDash val="solid"/>
          </a:ln>
        </p:spPr>
      </p:sp>
      <p:sp>
        <p:nvSpPr>
          <p:cNvPr id="13" name="Fall line"/>
          <p:cNvSpPr/>
          <p:nvPr/>
        </p:nvSpPr>
        <p:spPr>
          <a:xfrm>
            <a:off x="3505200" y="2635250"/>
            <a:ext cx="0" cy="1377950"/>
          </a:xfrm>
          <a:prstGeom prst="line">
            <a:avLst/>
          </a:prstGeom>
          <a:noFill/>
          <a:ln w="25400">
            <a:solidFill>
              <a:srgbClr val="B44150"/>
            </a:solidFill>
            <a:prstDash val="dash"/>
          </a:ln>
        </p:spPr>
      </p:sp>
      <p:sp>
        <p:nvSpPr>
          <p:cNvPr id="14" name="Text 11"/>
          <p:cNvSpPr txBox="1"/>
          <p:nvPr/>
        </p:nvSpPr>
        <p:spPr>
          <a:xfrm>
            <a:off x="2870200" y="2400300"/>
            <a:ext cx="127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7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 LINE</a:t>
            </a:r>
            <a:endParaRPr lang="en-US" sz="1050" dirty="0"/>
          </a:p>
        </p:txBody>
      </p:sp>
      <p:sp>
        <p:nvSpPr>
          <p:cNvPr id="15" name="Text 12"/>
          <p:cNvSpPr txBox="1"/>
          <p:nvPr/>
        </p:nvSpPr>
        <p:spPr>
          <a:xfrm>
            <a:off x="444500" y="1651000"/>
            <a:ext cx="127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4E5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RIDGE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444500" y="1828800"/>
            <a:ext cx="12700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9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mountains</a:t>
            </a:r>
            <a:endParaRPr lang="en-US" sz="950" dirty="0"/>
          </a:p>
        </p:txBody>
      </p:sp>
      <p:sp>
        <p:nvSpPr>
          <p:cNvPr id="17" name="Text 14"/>
          <p:cNvSpPr txBox="1"/>
          <p:nvPr/>
        </p:nvSpPr>
        <p:spPr>
          <a:xfrm>
            <a:off x="1885950" y="1651000"/>
            <a:ext cx="127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4E5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PIEDMONT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1885950" y="1828800"/>
            <a:ext cx="12700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9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red-clay hills</a:t>
            </a:r>
            <a:endParaRPr lang="en-US" sz="950" dirty="0"/>
          </a:p>
        </p:txBody>
      </p:sp>
      <p:sp>
        <p:nvSpPr>
          <p:cNvPr id="19" name="Text 16"/>
          <p:cNvSpPr txBox="1"/>
          <p:nvPr/>
        </p:nvSpPr>
        <p:spPr>
          <a:xfrm>
            <a:off x="3365500" y="1651000"/>
            <a:ext cx="127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4E5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SANDHILLS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3365500" y="1828800"/>
            <a:ext cx="12700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9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 &amp; clay</a:t>
            </a:r>
            <a:endParaRPr lang="en-US" sz="950" dirty="0"/>
          </a:p>
        </p:txBody>
      </p:sp>
      <p:sp>
        <p:nvSpPr>
          <p:cNvPr id="21" name="Text 18"/>
          <p:cNvSpPr txBox="1"/>
          <p:nvPr/>
        </p:nvSpPr>
        <p:spPr>
          <a:xfrm>
            <a:off x="4737100" y="1651000"/>
            <a:ext cx="190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4E5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COASTAL PLAIN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4737100" y="1828800"/>
            <a:ext cx="19050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9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Lowcountry: flat &amp; marshy</a:t>
            </a:r>
            <a:endParaRPr lang="en-US" sz="950" dirty="0"/>
          </a:p>
        </p:txBody>
      </p:sp>
      <p:sp>
        <p:nvSpPr>
          <p:cNvPr id="23" name="Text 20"/>
          <p:cNvSpPr txBox="1"/>
          <p:nvPr/>
        </p:nvSpPr>
        <p:spPr>
          <a:xfrm>
            <a:off x="6502400" y="1651000"/>
            <a:ext cx="127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4E5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COAST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6502400" y="1828800"/>
            <a:ext cx="12700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9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islands</a:t>
            </a:r>
            <a:endParaRPr lang="en-US" sz="950" dirty="0"/>
          </a:p>
        </p:txBody>
      </p:sp>
      <p:sp>
        <p:nvSpPr>
          <p:cNvPr id="25" name="Text 22"/>
          <p:cNvSpPr txBox="1"/>
          <p:nvPr/>
        </p:nvSpPr>
        <p:spPr>
          <a:xfrm>
            <a:off x="654050" y="3841750"/>
            <a:ext cx="12700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7C80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NORTHWEST</a:t>
            </a:r>
            <a:endParaRPr lang="en-US" sz="900" dirty="0"/>
          </a:p>
        </p:txBody>
      </p:sp>
      <p:sp>
        <p:nvSpPr>
          <p:cNvPr id="26" name="Text 23"/>
          <p:cNvSpPr txBox="1"/>
          <p:nvPr/>
        </p:nvSpPr>
        <p:spPr>
          <a:xfrm>
            <a:off x="6604000" y="3619500"/>
            <a:ext cx="8890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7C80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SOUTHEAST</a:t>
            </a:r>
            <a:endParaRPr lang="en-US" sz="900" dirty="0"/>
          </a:p>
        </p:txBody>
      </p:sp>
      <p:sp>
        <p:nvSpPr>
          <p:cNvPr id="27" name="Text 24"/>
          <p:cNvSpPr txBox="1"/>
          <p:nvPr/>
        </p:nvSpPr>
        <p:spPr>
          <a:xfrm>
            <a:off x="4991100" y="3841750"/>
            <a:ext cx="12700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C80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elevation not to scale</a:t>
            </a:r>
            <a:endParaRPr lang="en-US" sz="900" dirty="0"/>
          </a:p>
        </p:txBody>
      </p:sp>
      <p:sp>
        <p:nvSpPr>
          <p:cNvPr id="28" name="Text 25"/>
          <p:cNvSpPr txBox="1"/>
          <p:nvPr/>
        </p:nvSpPr>
        <p:spPr>
          <a:xfrm>
            <a:off x="546100" y="4178300"/>
            <a:ext cx="7048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7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3   </a:t>
            </a:r>
            <a:pPr indent="0" marL="0">
              <a:buNone/>
            </a:pPr>
            <a:r>
              <a:rPr lang="en-US" sz="1200" dirty="0">
                <a:solidFill>
                  <a:srgbClr val="AEB1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Cross-section from mountains to coast. Land drops from the Blue Ridge to the flat Coastal Plain, where rice farming and Charles Town took root.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7861300" y="1600200"/>
            <a:ext cx="3778250" cy="2463800"/>
          </a:xfrm>
          <a:prstGeom prst="roundRect">
            <a:avLst>
              <a:gd name="adj" fmla="val 7423"/>
            </a:avLst>
          </a:prstGeom>
          <a:solidFill>
            <a:srgbClr val="17181D"/>
          </a:solidFill>
          <a:ln w="12700">
            <a:solidFill>
              <a:srgbClr val="2B2D35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8115300" y="1809750"/>
            <a:ext cx="254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D97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</a:t>
            </a:r>
            <a:endParaRPr lang="en-US" sz="1050" dirty="0"/>
          </a:p>
        </p:txBody>
      </p:sp>
      <p:sp>
        <p:nvSpPr>
          <p:cNvPr id="31" name="Text 28"/>
          <p:cNvSpPr txBox="1"/>
          <p:nvPr/>
        </p:nvSpPr>
        <p:spPr>
          <a:xfrm>
            <a:off x="8115300" y="2095500"/>
            <a:ext cx="3365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DEB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Hot, humid, subtropical</a:t>
            </a:r>
            <a:endParaRPr lang="en-US" sz="2000" dirty="0"/>
          </a:p>
        </p:txBody>
      </p:sp>
      <p:sp>
        <p:nvSpPr>
          <p:cNvPr id="32" name="Text 29"/>
          <p:cNvSpPr txBox="1"/>
          <p:nvPr/>
        </p:nvSpPr>
        <p:spPr>
          <a:xfrm>
            <a:off x="8115300" y="2571750"/>
            <a:ext cx="33020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AEB1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Hot, humid summers and mild winters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AEB1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growing season for rice and indigo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AEB1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Hurricanes can batter the coast and flood fields</a:t>
            </a:r>
            <a:endParaRPr lang="en-US" sz="1400" dirty="0"/>
          </a:p>
        </p:txBody>
      </p:sp>
      <p:sp>
        <p:nvSpPr>
          <p:cNvPr id="33" name="Shape 30"/>
          <p:cNvSpPr/>
          <p:nvPr/>
        </p:nvSpPr>
        <p:spPr>
          <a:xfrm>
            <a:off x="546100" y="4845050"/>
            <a:ext cx="3517900" cy="1371600"/>
          </a:xfrm>
          <a:prstGeom prst="roundRect">
            <a:avLst>
              <a:gd name="adj" fmla="val 13333"/>
            </a:avLst>
          </a:prstGeom>
          <a:solidFill>
            <a:srgbClr val="17181D"/>
          </a:solidFill>
          <a:ln w="12700">
            <a:solidFill>
              <a:srgbClr val="2B2D35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774700" y="4953000"/>
            <a:ext cx="3048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970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Lowcountry</a:t>
            </a:r>
            <a:endParaRPr lang="en-US" sz="1700" dirty="0"/>
          </a:p>
        </p:txBody>
      </p:sp>
      <p:sp>
        <p:nvSpPr>
          <p:cNvPr id="35" name="Text 32"/>
          <p:cNvSpPr txBox="1"/>
          <p:nvPr/>
        </p:nvSpPr>
        <p:spPr>
          <a:xfrm>
            <a:off x="774700" y="5321300"/>
            <a:ext cx="3111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EB1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coastal plain with tidal marshes, sea islands and rivers. Rice country and home of Charles Town.</a:t>
            </a:r>
            <a:endParaRPr lang="en-US" sz="1300" dirty="0"/>
          </a:p>
        </p:txBody>
      </p:sp>
      <p:sp>
        <p:nvSpPr>
          <p:cNvPr id="36" name="Shape 33"/>
          <p:cNvSpPr/>
          <p:nvPr/>
        </p:nvSpPr>
        <p:spPr>
          <a:xfrm>
            <a:off x="4337050" y="4845050"/>
            <a:ext cx="3517900" cy="1371600"/>
          </a:xfrm>
          <a:prstGeom prst="roundRect">
            <a:avLst>
              <a:gd name="adj" fmla="val 13333"/>
            </a:avLst>
          </a:prstGeom>
          <a:solidFill>
            <a:srgbClr val="17181D"/>
          </a:solidFill>
          <a:ln w="12700">
            <a:solidFill>
              <a:srgbClr val="2B2D35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4565650" y="4953000"/>
            <a:ext cx="3048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970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Midlands</a:t>
            </a:r>
            <a:endParaRPr lang="en-US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4565650" y="5321300"/>
            <a:ext cx="3111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EB1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Sandhills and red-clay hills. The Fall Line, where rivers drop in rapids, stopped boats heading inland.</a:t>
            </a:r>
            <a:endParaRPr lang="en-US" sz="1300" dirty="0"/>
          </a:p>
        </p:txBody>
      </p:sp>
      <p:sp>
        <p:nvSpPr>
          <p:cNvPr id="39" name="Shape 36"/>
          <p:cNvSpPr/>
          <p:nvPr/>
        </p:nvSpPr>
        <p:spPr>
          <a:xfrm>
            <a:off x="8128000" y="4845050"/>
            <a:ext cx="3517900" cy="1371600"/>
          </a:xfrm>
          <a:prstGeom prst="roundRect">
            <a:avLst>
              <a:gd name="adj" fmla="val 13333"/>
            </a:avLst>
          </a:prstGeom>
          <a:solidFill>
            <a:srgbClr val="17181D"/>
          </a:solidFill>
          <a:ln w="12700">
            <a:solidFill>
              <a:srgbClr val="2B2D35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356600" y="4953000"/>
            <a:ext cx="3048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970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Upcountry</a:t>
            </a:r>
            <a:endParaRPr lang="en-US" sz="1700" dirty="0"/>
          </a:p>
        </p:txBody>
      </p:sp>
      <p:sp>
        <p:nvSpPr>
          <p:cNvPr id="41" name="Text 38"/>
          <p:cNvSpPr txBox="1"/>
          <p:nvPr/>
        </p:nvSpPr>
        <p:spPr>
          <a:xfrm>
            <a:off x="8356600" y="5321300"/>
            <a:ext cx="3111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EB1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Blue Ridge and Piedmont foothills, called the Backcountry in colonial days and settled later.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6100" y="323850"/>
            <a:ext cx="762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D97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 /   POLITICS &amp; GOVERNMENT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6100" y="635000"/>
            <a:ext cx="1016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EDEB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Politics &amp; Government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6100" y="6464300"/>
            <a:ext cx="508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0" kern="0" dirty="0">
                <a:solidFill>
                  <a:srgbClr val="6F72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 CAROLINA   ·   1670–1783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95000" y="6445250"/>
            <a:ext cx="844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72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6100" y="1600200"/>
            <a:ext cx="5397500" cy="3517900"/>
          </a:xfrm>
          <a:prstGeom prst="roundRect">
            <a:avLst>
              <a:gd name="adj" fmla="val 5199"/>
            </a:avLst>
          </a:prstGeom>
          <a:solidFill>
            <a:srgbClr val="17181D"/>
          </a:solidFill>
          <a:ln w="12700">
            <a:solidFill>
              <a:srgbClr val="2B2D35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19150" y="1809750"/>
            <a:ext cx="444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D97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PROPRIETARY   ·   1670–1729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819150" y="2146300"/>
            <a:ext cx="4851400" cy="482600"/>
          </a:xfrm>
          <a:prstGeom prst="roundRect">
            <a:avLst>
              <a:gd name="adj" fmla="val 50000"/>
            </a:avLst>
          </a:prstGeom>
          <a:solidFill>
            <a:srgbClr val="1C1F26"/>
          </a:solidFill>
          <a:ln w="12700">
            <a:solidFill>
              <a:srgbClr val="2C2F3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19150" y="2146300"/>
            <a:ext cx="48514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dirty="0">
                <a:solidFill>
                  <a:srgbClr val="EDEB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Lords Proprietors (in England)</a:t>
            </a:r>
            <a:endParaRPr lang="en-US" sz="1550" dirty="0"/>
          </a:p>
        </p:txBody>
      </p:sp>
      <p:sp>
        <p:nvSpPr>
          <p:cNvPr id="11" name="Shape 8"/>
          <p:cNvSpPr/>
          <p:nvPr/>
        </p:nvSpPr>
        <p:spPr>
          <a:xfrm>
            <a:off x="3136900" y="2667000"/>
            <a:ext cx="215900" cy="177800"/>
          </a:xfrm>
          <a:prstGeom prst="downArrow">
            <a:avLst/>
          </a:prstGeom>
          <a:solidFill>
            <a:srgbClr val="5F6474"/>
          </a:solidFill>
          <a:ln/>
        </p:spPr>
      </p:sp>
      <p:sp>
        <p:nvSpPr>
          <p:cNvPr id="12" name="Shape 9"/>
          <p:cNvSpPr/>
          <p:nvPr/>
        </p:nvSpPr>
        <p:spPr>
          <a:xfrm>
            <a:off x="819150" y="2876550"/>
            <a:ext cx="4851400" cy="482600"/>
          </a:xfrm>
          <a:prstGeom prst="roundRect">
            <a:avLst>
              <a:gd name="adj" fmla="val 50000"/>
            </a:avLst>
          </a:prstGeom>
          <a:solidFill>
            <a:srgbClr val="1C1F26"/>
          </a:solidFill>
          <a:ln w="12700">
            <a:solidFill>
              <a:srgbClr val="2C2F38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19150" y="2876550"/>
            <a:ext cx="48514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dirty="0">
                <a:solidFill>
                  <a:srgbClr val="EDEB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Governor and Council</a:t>
            </a:r>
            <a:endParaRPr lang="en-US" sz="1550" dirty="0"/>
          </a:p>
        </p:txBody>
      </p:sp>
      <p:sp>
        <p:nvSpPr>
          <p:cNvPr id="14" name="Shape 11"/>
          <p:cNvSpPr/>
          <p:nvPr/>
        </p:nvSpPr>
        <p:spPr>
          <a:xfrm>
            <a:off x="3136900" y="3397250"/>
            <a:ext cx="215900" cy="177800"/>
          </a:xfrm>
          <a:prstGeom prst="downArrow">
            <a:avLst/>
          </a:prstGeom>
          <a:solidFill>
            <a:srgbClr val="5F6474"/>
          </a:solidFill>
          <a:ln/>
        </p:spPr>
      </p:sp>
      <p:sp>
        <p:nvSpPr>
          <p:cNvPr id="15" name="Shape 12"/>
          <p:cNvSpPr/>
          <p:nvPr/>
        </p:nvSpPr>
        <p:spPr>
          <a:xfrm>
            <a:off x="819150" y="3606800"/>
            <a:ext cx="4851400" cy="482600"/>
          </a:xfrm>
          <a:prstGeom prst="roundRect">
            <a:avLst>
              <a:gd name="adj" fmla="val 50000"/>
            </a:avLst>
          </a:prstGeom>
          <a:solidFill>
            <a:srgbClr val="B44150"/>
          </a:solidFill>
          <a:ln w="12700">
            <a:solidFill>
              <a:srgbClr val="B4415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19150" y="3606800"/>
            <a:ext cx="48514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Commons House of Assembly (elected)</a:t>
            </a:r>
            <a:endParaRPr lang="en-US" sz="1550" dirty="0"/>
          </a:p>
        </p:txBody>
      </p:sp>
      <p:sp>
        <p:nvSpPr>
          <p:cNvPr id="17" name="Text 14"/>
          <p:cNvSpPr txBox="1"/>
          <p:nvPr/>
        </p:nvSpPr>
        <p:spPr>
          <a:xfrm>
            <a:off x="819150" y="4349750"/>
            <a:ext cx="492125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1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 Constitutions (1669) were drafted by Lord Ashley and John Locke. William Sayle was the first governor.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6242050" y="1600200"/>
            <a:ext cx="5397500" cy="3517900"/>
          </a:xfrm>
          <a:prstGeom prst="roundRect">
            <a:avLst>
              <a:gd name="adj" fmla="val 5199"/>
            </a:avLst>
          </a:prstGeom>
          <a:solidFill>
            <a:srgbClr val="17181D"/>
          </a:solidFill>
          <a:ln w="12700">
            <a:solidFill>
              <a:srgbClr val="2B2D35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515100" y="1809750"/>
            <a:ext cx="444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D97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ROYAL   ·   1729–1776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6515100" y="2146300"/>
            <a:ext cx="4851400" cy="482600"/>
          </a:xfrm>
          <a:prstGeom prst="roundRect">
            <a:avLst>
              <a:gd name="adj" fmla="val 50000"/>
            </a:avLst>
          </a:prstGeom>
          <a:solidFill>
            <a:srgbClr val="1C1F26"/>
          </a:solidFill>
          <a:ln w="12700">
            <a:solidFill>
              <a:srgbClr val="2C2F38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515100" y="2146300"/>
            <a:ext cx="48514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dirty="0">
                <a:solidFill>
                  <a:srgbClr val="EDEB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Crown (King George II)</a:t>
            </a:r>
            <a:endParaRPr lang="en-US" sz="1550" dirty="0"/>
          </a:p>
        </p:txBody>
      </p:sp>
      <p:sp>
        <p:nvSpPr>
          <p:cNvPr id="22" name="Shape 19"/>
          <p:cNvSpPr/>
          <p:nvPr/>
        </p:nvSpPr>
        <p:spPr>
          <a:xfrm>
            <a:off x="8832850" y="2667000"/>
            <a:ext cx="215900" cy="177800"/>
          </a:xfrm>
          <a:prstGeom prst="downArrow">
            <a:avLst/>
          </a:prstGeom>
          <a:solidFill>
            <a:srgbClr val="5F6474"/>
          </a:solidFill>
          <a:ln/>
        </p:spPr>
      </p:sp>
      <p:sp>
        <p:nvSpPr>
          <p:cNvPr id="23" name="Shape 20"/>
          <p:cNvSpPr/>
          <p:nvPr/>
        </p:nvSpPr>
        <p:spPr>
          <a:xfrm>
            <a:off x="6515100" y="2876550"/>
            <a:ext cx="4851400" cy="482600"/>
          </a:xfrm>
          <a:prstGeom prst="roundRect">
            <a:avLst>
              <a:gd name="adj" fmla="val 50000"/>
            </a:avLst>
          </a:prstGeom>
          <a:solidFill>
            <a:srgbClr val="1C1F26"/>
          </a:solidFill>
          <a:ln w="12700">
            <a:solidFill>
              <a:srgbClr val="2C2F38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15100" y="2876550"/>
            <a:ext cx="48514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dirty="0">
                <a:solidFill>
                  <a:srgbClr val="EDEB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Royal governor and Council</a:t>
            </a:r>
            <a:endParaRPr lang="en-US" sz="1550" dirty="0"/>
          </a:p>
        </p:txBody>
      </p:sp>
      <p:sp>
        <p:nvSpPr>
          <p:cNvPr id="25" name="Shape 22"/>
          <p:cNvSpPr/>
          <p:nvPr/>
        </p:nvSpPr>
        <p:spPr>
          <a:xfrm>
            <a:off x="8832850" y="3397250"/>
            <a:ext cx="215900" cy="177800"/>
          </a:xfrm>
          <a:prstGeom prst="downArrow">
            <a:avLst/>
          </a:prstGeom>
          <a:solidFill>
            <a:srgbClr val="5F6474"/>
          </a:solidFill>
          <a:ln/>
        </p:spPr>
      </p:sp>
      <p:sp>
        <p:nvSpPr>
          <p:cNvPr id="26" name="Shape 23"/>
          <p:cNvSpPr/>
          <p:nvPr/>
        </p:nvSpPr>
        <p:spPr>
          <a:xfrm>
            <a:off x="6515100" y="3606800"/>
            <a:ext cx="4851400" cy="482600"/>
          </a:xfrm>
          <a:prstGeom prst="roundRect">
            <a:avLst>
              <a:gd name="adj" fmla="val 50000"/>
            </a:avLst>
          </a:prstGeom>
          <a:solidFill>
            <a:srgbClr val="B44150"/>
          </a:solidFill>
          <a:ln w="12700">
            <a:solidFill>
              <a:srgbClr val="B44150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515100" y="3606800"/>
            <a:ext cx="48514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Commons House of Assembly (elected)</a:t>
            </a:r>
            <a:endParaRPr lang="en-US" sz="1550" dirty="0"/>
          </a:p>
        </p:txBody>
      </p:sp>
      <p:sp>
        <p:nvSpPr>
          <p:cNvPr id="28" name="Text 25"/>
          <p:cNvSpPr txBox="1"/>
          <p:nvPr/>
        </p:nvSpPr>
        <p:spPr>
          <a:xfrm>
            <a:off x="6515100" y="4349750"/>
            <a:ext cx="492125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1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 1719 revolt, the Crown bought out the Proprietors in 1729. Robert Johnson became royal governor.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546100" y="5353050"/>
            <a:ext cx="11093450" cy="863600"/>
          </a:xfrm>
          <a:prstGeom prst="roundRect">
            <a:avLst>
              <a:gd name="adj" fmla="val 19059"/>
            </a:avLst>
          </a:prstGeom>
          <a:solidFill>
            <a:srgbClr val="321F26"/>
          </a:solidFill>
          <a:ln w="12700">
            <a:solidFill>
              <a:srgbClr val="B44150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825500" y="5448300"/>
            <a:ext cx="10572750" cy="673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laws:  </a:t>
            </a:r>
            <a:pPr indent="0" marL="0">
              <a:buNone/>
            </a:pPr>
            <a:r>
              <a:rPr lang="en-US" sz="1400" dirty="0">
                <a:solidFill>
                  <a:srgbClr val="EDEB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Church Act (1706); slave codes (1696, 1712, 1740 Negro Act) that stripped enslaved people of legal rights. The Commons House was the only elected branch and the most powerful.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6100" y="323850"/>
            <a:ext cx="762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D97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 /   MAP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6100" y="635000"/>
            <a:ext cx="1016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EDEB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 of the Colony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6100" y="6464300"/>
            <a:ext cx="508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0" kern="0" dirty="0">
                <a:solidFill>
                  <a:srgbClr val="6F72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 CAROLINA   ·   1670–1783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95000" y="6445250"/>
            <a:ext cx="844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72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pic>
        <p:nvPicPr>
          <p:cNvPr id="7" name="Fig 4 map" descr="Labeled map of colonial South Carolina with towns and Revolutionary War battle sit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450" y="1371600"/>
            <a:ext cx="6756400" cy="507365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588250" y="1371600"/>
            <a:ext cx="4051300" cy="4984750"/>
          </a:xfrm>
          <a:prstGeom prst="roundRect">
            <a:avLst>
              <a:gd name="adj" fmla="val 4514"/>
            </a:avLst>
          </a:prstGeom>
          <a:solidFill>
            <a:srgbClr val="17181D"/>
          </a:solidFill>
          <a:ln w="12700">
            <a:solidFill>
              <a:srgbClr val="2B2D35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7861300" y="1587500"/>
            <a:ext cx="3556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D97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4   ·   WHAT THE MAP SHOWS</a:t>
            </a:r>
            <a:endParaRPr lang="en-US" sz="1050" dirty="0"/>
          </a:p>
        </p:txBody>
      </p:sp>
      <p:sp>
        <p:nvSpPr>
          <p:cNvPr id="10" name="Text 6"/>
          <p:cNvSpPr txBox="1"/>
          <p:nvPr/>
        </p:nvSpPr>
        <p:spPr>
          <a:xfrm>
            <a:off x="7861300" y="1917700"/>
            <a:ext cx="3556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EB1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labeled map of colonial South Carolina: Charles Town (the capital and main port, in red), other towns, the three regions and key Revolutionary War battle sites.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7861300" y="3416300"/>
            <a:ext cx="3556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D97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050" dirty="0"/>
          </a:p>
        </p:txBody>
      </p:sp>
      <p:sp>
        <p:nvSpPr>
          <p:cNvPr id="12" name="Text 8"/>
          <p:cNvSpPr txBox="1"/>
          <p:nvPr/>
        </p:nvSpPr>
        <p:spPr>
          <a:xfrm>
            <a:off x="7861300" y="3746500"/>
            <a:ext cx="3556000" cy="158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AEB1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Towns and wealth clustered on the coast, where the ocean and rivers carried trade.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AEB1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Upcountry filled up later with small farmers and traders.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AEB1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state saw 100+ Revolutionary War battles and skirmishes, more than any other.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7861300" y="5969000"/>
            <a:ext cx="3556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F72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Approximate map using today’s state outline.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6100" y="323850"/>
            <a:ext cx="762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D97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 /   TIMELINE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6100" y="635000"/>
            <a:ext cx="1016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EDEB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Timeline: 1663–1783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6100" y="6464300"/>
            <a:ext cx="508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0" kern="0" dirty="0">
                <a:solidFill>
                  <a:srgbClr val="6F72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 CAROLINA   ·   1670–1783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95000" y="6445250"/>
            <a:ext cx="844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72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7" name="Timeline axis"/>
          <p:cNvSpPr/>
          <p:nvPr/>
        </p:nvSpPr>
        <p:spPr>
          <a:xfrm>
            <a:off x="546100" y="3702050"/>
            <a:ext cx="11093450" cy="0"/>
          </a:xfrm>
          <a:prstGeom prst="line">
            <a:avLst/>
          </a:prstGeom>
          <a:noFill/>
          <a:ln w="19050">
            <a:solidFill>
              <a:srgbClr val="5D606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65150" y="1600200"/>
            <a:ext cx="1612900" cy="1504950"/>
          </a:xfrm>
          <a:prstGeom prst="roundRect">
            <a:avLst>
              <a:gd name="adj" fmla="val 9114"/>
            </a:avLst>
          </a:prstGeom>
          <a:solidFill>
            <a:srgbClr val="17181D"/>
          </a:solidFill>
          <a:ln w="12700">
            <a:solidFill>
              <a:srgbClr val="2B2D35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98500" y="1727200"/>
            <a:ext cx="13970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DEB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1663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698500" y="2070100"/>
            <a:ext cx="14351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AEB1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Charles II grants Carolina to eight Lords Proprietors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1371600" y="3105150"/>
            <a:ext cx="0" cy="508000"/>
          </a:xfrm>
          <a:prstGeom prst="line">
            <a:avLst/>
          </a:prstGeom>
          <a:noFill/>
          <a:ln w="15875">
            <a:solidFill>
              <a:srgbClr val="5D606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282700" y="3613150"/>
            <a:ext cx="177800" cy="177800"/>
          </a:xfrm>
          <a:prstGeom prst="ellipse">
            <a:avLst/>
          </a:prstGeom>
          <a:solidFill>
            <a:srgbClr val="8E95A5"/>
          </a:solidFill>
          <a:ln w="25400">
            <a:solidFill>
              <a:srgbClr val="0C0D1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283460" y="1600200"/>
            <a:ext cx="1612900" cy="1504950"/>
          </a:xfrm>
          <a:prstGeom prst="roundRect">
            <a:avLst>
              <a:gd name="adj" fmla="val 9114"/>
            </a:avLst>
          </a:prstGeom>
          <a:solidFill>
            <a:srgbClr val="17181D"/>
          </a:solidFill>
          <a:ln w="12700">
            <a:solidFill>
              <a:srgbClr val="2B2D35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2416810" y="1727200"/>
            <a:ext cx="13970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DEB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1680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2416810" y="2070100"/>
            <a:ext cx="14351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AEB1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Town moves to Oyster Point, today’s Charleston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3089910" y="3105150"/>
            <a:ext cx="0" cy="508000"/>
          </a:xfrm>
          <a:prstGeom prst="line">
            <a:avLst/>
          </a:prstGeom>
          <a:noFill/>
          <a:ln w="15875">
            <a:solidFill>
              <a:srgbClr val="5D606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001010" y="3613150"/>
            <a:ext cx="177800" cy="177800"/>
          </a:xfrm>
          <a:prstGeom prst="ellipse">
            <a:avLst/>
          </a:prstGeom>
          <a:solidFill>
            <a:srgbClr val="8E95A5"/>
          </a:solidFill>
          <a:ln w="25400">
            <a:solidFill>
              <a:srgbClr val="0C0D1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001770" y="1600200"/>
            <a:ext cx="1612900" cy="1504950"/>
          </a:xfrm>
          <a:prstGeom prst="roundRect">
            <a:avLst>
              <a:gd name="adj" fmla="val 9114"/>
            </a:avLst>
          </a:prstGeom>
          <a:solidFill>
            <a:srgbClr val="17181D"/>
          </a:solidFill>
          <a:ln w="12700">
            <a:solidFill>
              <a:srgbClr val="2B2D35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135120" y="1727200"/>
            <a:ext cx="13970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DEB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1715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4135120" y="2070100"/>
            <a:ext cx="14351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AEB1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Yamasee War: Native attacks nearly capture Charles Town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4808220" y="3105150"/>
            <a:ext cx="0" cy="508000"/>
          </a:xfrm>
          <a:prstGeom prst="line">
            <a:avLst/>
          </a:prstGeom>
          <a:noFill/>
          <a:ln w="15875">
            <a:solidFill>
              <a:srgbClr val="5D606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719320" y="3613150"/>
            <a:ext cx="177800" cy="177800"/>
          </a:xfrm>
          <a:prstGeom prst="ellipse">
            <a:avLst/>
          </a:prstGeom>
          <a:solidFill>
            <a:srgbClr val="8E95A5"/>
          </a:solidFill>
          <a:ln w="25400">
            <a:solidFill>
              <a:srgbClr val="0C0D1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720080" y="1600200"/>
            <a:ext cx="1612900" cy="1504950"/>
          </a:xfrm>
          <a:prstGeom prst="roundRect">
            <a:avLst>
              <a:gd name="adj" fmla="val 9114"/>
            </a:avLst>
          </a:prstGeom>
          <a:solidFill>
            <a:srgbClr val="17181D"/>
          </a:solidFill>
          <a:ln w="12700">
            <a:solidFill>
              <a:srgbClr val="B44150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5853430" y="1727200"/>
            <a:ext cx="13970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0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1729</a:t>
            </a:r>
            <a:endParaRPr lang="en-US" sz="1800" dirty="0"/>
          </a:p>
        </p:txBody>
      </p:sp>
      <p:sp>
        <p:nvSpPr>
          <p:cNvPr id="25" name="Text 22"/>
          <p:cNvSpPr txBox="1"/>
          <p:nvPr/>
        </p:nvSpPr>
        <p:spPr>
          <a:xfrm>
            <a:off x="5853430" y="2070100"/>
            <a:ext cx="14351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AEB1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Crown buys out the Proprietors: royal colony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6526530" y="3105150"/>
            <a:ext cx="0" cy="508000"/>
          </a:xfrm>
          <a:prstGeom prst="line">
            <a:avLst/>
          </a:prstGeom>
          <a:noFill/>
          <a:ln w="15875">
            <a:solidFill>
              <a:srgbClr val="B44150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437630" y="3613150"/>
            <a:ext cx="177800" cy="177800"/>
          </a:xfrm>
          <a:prstGeom prst="ellipse">
            <a:avLst/>
          </a:prstGeom>
          <a:solidFill>
            <a:srgbClr val="B44150"/>
          </a:solidFill>
          <a:ln w="25400">
            <a:solidFill>
              <a:srgbClr val="0C0D10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7438390" y="1600200"/>
            <a:ext cx="1612900" cy="1504950"/>
          </a:xfrm>
          <a:prstGeom prst="roundRect">
            <a:avLst>
              <a:gd name="adj" fmla="val 9114"/>
            </a:avLst>
          </a:prstGeom>
          <a:solidFill>
            <a:srgbClr val="17181D"/>
          </a:solidFill>
          <a:ln w="12700">
            <a:solidFill>
              <a:srgbClr val="B44150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7571740" y="1727200"/>
            <a:ext cx="13970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0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1776</a:t>
            </a:r>
            <a:endParaRPr lang="en-US" sz="1800" dirty="0"/>
          </a:p>
        </p:txBody>
      </p:sp>
      <p:sp>
        <p:nvSpPr>
          <p:cNvPr id="30" name="Text 27"/>
          <p:cNvSpPr txBox="1"/>
          <p:nvPr/>
        </p:nvSpPr>
        <p:spPr>
          <a:xfrm>
            <a:off x="7571740" y="2070100"/>
            <a:ext cx="14351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AEB1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Palmetto fort beats British fleet at Sullivan’s Island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8244840" y="3105150"/>
            <a:ext cx="0" cy="508000"/>
          </a:xfrm>
          <a:prstGeom prst="line">
            <a:avLst/>
          </a:prstGeom>
          <a:noFill/>
          <a:ln w="15875">
            <a:solidFill>
              <a:srgbClr val="B44150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8155940" y="3613150"/>
            <a:ext cx="177800" cy="177800"/>
          </a:xfrm>
          <a:prstGeom prst="ellipse">
            <a:avLst/>
          </a:prstGeom>
          <a:solidFill>
            <a:srgbClr val="B44150"/>
          </a:solidFill>
          <a:ln w="25400">
            <a:solidFill>
              <a:srgbClr val="0C0D10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9156700" y="1600200"/>
            <a:ext cx="1612900" cy="1504950"/>
          </a:xfrm>
          <a:prstGeom prst="roundRect">
            <a:avLst>
              <a:gd name="adj" fmla="val 9114"/>
            </a:avLst>
          </a:prstGeom>
          <a:solidFill>
            <a:srgbClr val="17181D"/>
          </a:solidFill>
          <a:ln w="12700">
            <a:solidFill>
              <a:srgbClr val="2B2D35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9290050" y="1727200"/>
            <a:ext cx="13970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DEB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1781</a:t>
            </a:r>
            <a:endParaRPr lang="en-US" sz="1800" dirty="0"/>
          </a:p>
        </p:txBody>
      </p:sp>
      <p:sp>
        <p:nvSpPr>
          <p:cNvPr id="35" name="Text 32"/>
          <p:cNvSpPr txBox="1"/>
          <p:nvPr/>
        </p:nvSpPr>
        <p:spPr>
          <a:xfrm>
            <a:off x="9290050" y="2070100"/>
            <a:ext cx="14351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AEB1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Patriots win at Cowpens (Jan. 17)</a:t>
            </a:r>
            <a:endParaRPr lang="en-US" sz="1200" dirty="0"/>
          </a:p>
        </p:txBody>
      </p:sp>
      <p:sp>
        <p:nvSpPr>
          <p:cNvPr id="36" name="Shape 33"/>
          <p:cNvSpPr/>
          <p:nvPr/>
        </p:nvSpPr>
        <p:spPr>
          <a:xfrm>
            <a:off x="9963150" y="3105150"/>
            <a:ext cx="0" cy="508000"/>
          </a:xfrm>
          <a:prstGeom prst="line">
            <a:avLst/>
          </a:prstGeom>
          <a:noFill/>
          <a:ln w="15875">
            <a:solidFill>
              <a:srgbClr val="5D606F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9874250" y="3613150"/>
            <a:ext cx="177800" cy="177800"/>
          </a:xfrm>
          <a:prstGeom prst="ellipse">
            <a:avLst/>
          </a:prstGeom>
          <a:solidFill>
            <a:srgbClr val="8E95A5"/>
          </a:solidFill>
          <a:ln w="25400">
            <a:solidFill>
              <a:srgbClr val="0C0D10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1422400" y="4298950"/>
            <a:ext cx="1612900" cy="1504950"/>
          </a:xfrm>
          <a:prstGeom prst="roundRect">
            <a:avLst>
              <a:gd name="adj" fmla="val 9114"/>
            </a:avLst>
          </a:prstGeom>
          <a:solidFill>
            <a:srgbClr val="17181D"/>
          </a:solidFill>
          <a:ln w="12700">
            <a:solidFill>
              <a:srgbClr val="B44150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1555750" y="4425950"/>
            <a:ext cx="13970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0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1670</a:t>
            </a:r>
            <a:endParaRPr lang="en-US" sz="1800" dirty="0"/>
          </a:p>
        </p:txBody>
      </p:sp>
      <p:sp>
        <p:nvSpPr>
          <p:cNvPr id="40" name="Text 37"/>
          <p:cNvSpPr txBox="1"/>
          <p:nvPr/>
        </p:nvSpPr>
        <p:spPr>
          <a:xfrm>
            <a:off x="1555750" y="4768850"/>
            <a:ext cx="14351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AEB1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Settlers land at Albemarle Point (Charles Town)</a:t>
            </a:r>
            <a:endParaRPr lang="en-US" sz="1200" dirty="0"/>
          </a:p>
        </p:txBody>
      </p:sp>
      <p:sp>
        <p:nvSpPr>
          <p:cNvPr id="41" name="Shape 38"/>
          <p:cNvSpPr/>
          <p:nvPr/>
        </p:nvSpPr>
        <p:spPr>
          <a:xfrm>
            <a:off x="2228850" y="3790950"/>
            <a:ext cx="0" cy="508000"/>
          </a:xfrm>
          <a:prstGeom prst="line">
            <a:avLst/>
          </a:prstGeom>
          <a:noFill/>
          <a:ln w="15875">
            <a:solidFill>
              <a:srgbClr val="B44150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2139950" y="3613150"/>
            <a:ext cx="177800" cy="177800"/>
          </a:xfrm>
          <a:prstGeom prst="ellipse">
            <a:avLst/>
          </a:prstGeom>
          <a:solidFill>
            <a:srgbClr val="B44150"/>
          </a:solidFill>
          <a:ln w="25400">
            <a:solidFill>
              <a:srgbClr val="0C0D10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3140710" y="4298950"/>
            <a:ext cx="1612900" cy="1504950"/>
          </a:xfrm>
          <a:prstGeom prst="roundRect">
            <a:avLst>
              <a:gd name="adj" fmla="val 9114"/>
            </a:avLst>
          </a:prstGeom>
          <a:solidFill>
            <a:srgbClr val="17181D"/>
          </a:solidFill>
          <a:ln w="12700">
            <a:solidFill>
              <a:srgbClr val="2B2D35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3274060" y="4425950"/>
            <a:ext cx="13970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DEB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1706</a:t>
            </a:r>
            <a:endParaRPr lang="en-US" sz="1800" dirty="0"/>
          </a:p>
        </p:txBody>
      </p:sp>
      <p:sp>
        <p:nvSpPr>
          <p:cNvPr id="45" name="Text 42"/>
          <p:cNvSpPr txBox="1"/>
          <p:nvPr/>
        </p:nvSpPr>
        <p:spPr>
          <a:xfrm>
            <a:off x="3274060" y="4768850"/>
            <a:ext cx="14351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AEB1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Church Act makes the Church of England official</a:t>
            </a:r>
            <a:endParaRPr lang="en-US" sz="1200" dirty="0"/>
          </a:p>
        </p:txBody>
      </p:sp>
      <p:sp>
        <p:nvSpPr>
          <p:cNvPr id="46" name="Shape 43"/>
          <p:cNvSpPr/>
          <p:nvPr/>
        </p:nvSpPr>
        <p:spPr>
          <a:xfrm>
            <a:off x="3947160" y="3790950"/>
            <a:ext cx="0" cy="508000"/>
          </a:xfrm>
          <a:prstGeom prst="line">
            <a:avLst/>
          </a:prstGeom>
          <a:noFill/>
          <a:ln w="15875">
            <a:solidFill>
              <a:srgbClr val="5D606F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3858260" y="3613150"/>
            <a:ext cx="177800" cy="177800"/>
          </a:xfrm>
          <a:prstGeom prst="ellipse">
            <a:avLst/>
          </a:prstGeom>
          <a:solidFill>
            <a:srgbClr val="8E95A5"/>
          </a:solidFill>
          <a:ln w="25400">
            <a:solidFill>
              <a:srgbClr val="0C0D10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4859020" y="4298950"/>
            <a:ext cx="1612900" cy="1504950"/>
          </a:xfrm>
          <a:prstGeom prst="roundRect">
            <a:avLst>
              <a:gd name="adj" fmla="val 9114"/>
            </a:avLst>
          </a:prstGeom>
          <a:solidFill>
            <a:srgbClr val="17181D"/>
          </a:solidFill>
          <a:ln w="12700">
            <a:solidFill>
              <a:srgbClr val="2B2D35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4992370" y="4425950"/>
            <a:ext cx="13970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DEB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1718</a:t>
            </a:r>
            <a:endParaRPr lang="en-US" sz="1800" dirty="0"/>
          </a:p>
        </p:txBody>
      </p:sp>
      <p:sp>
        <p:nvSpPr>
          <p:cNvPr id="50" name="Text 47"/>
          <p:cNvSpPr txBox="1"/>
          <p:nvPr/>
        </p:nvSpPr>
        <p:spPr>
          <a:xfrm>
            <a:off x="4992370" y="4768850"/>
            <a:ext cx="14351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AEB1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Blackbeard’s pirates blockade Charles Town harbor</a:t>
            </a:r>
            <a:endParaRPr lang="en-US" sz="1200" dirty="0"/>
          </a:p>
        </p:txBody>
      </p:sp>
      <p:sp>
        <p:nvSpPr>
          <p:cNvPr id="51" name="Shape 48"/>
          <p:cNvSpPr/>
          <p:nvPr/>
        </p:nvSpPr>
        <p:spPr>
          <a:xfrm>
            <a:off x="5665470" y="3790950"/>
            <a:ext cx="0" cy="508000"/>
          </a:xfrm>
          <a:prstGeom prst="line">
            <a:avLst/>
          </a:prstGeom>
          <a:noFill/>
          <a:ln w="15875">
            <a:solidFill>
              <a:srgbClr val="5D606F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5576570" y="3613150"/>
            <a:ext cx="177800" cy="177800"/>
          </a:xfrm>
          <a:prstGeom prst="ellipse">
            <a:avLst/>
          </a:prstGeom>
          <a:solidFill>
            <a:srgbClr val="8E95A5"/>
          </a:solidFill>
          <a:ln w="25400">
            <a:solidFill>
              <a:srgbClr val="0C0D10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6577330" y="4298950"/>
            <a:ext cx="1612900" cy="1504950"/>
          </a:xfrm>
          <a:prstGeom prst="roundRect">
            <a:avLst>
              <a:gd name="adj" fmla="val 9114"/>
            </a:avLst>
          </a:prstGeom>
          <a:solidFill>
            <a:srgbClr val="17181D"/>
          </a:solidFill>
          <a:ln w="12700">
            <a:solidFill>
              <a:srgbClr val="2B2D35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6710680" y="4425950"/>
            <a:ext cx="13970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DEB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1739</a:t>
            </a:r>
            <a:endParaRPr lang="en-US" sz="1800" dirty="0"/>
          </a:p>
        </p:txBody>
      </p:sp>
      <p:sp>
        <p:nvSpPr>
          <p:cNvPr id="55" name="Text 52"/>
          <p:cNvSpPr txBox="1"/>
          <p:nvPr/>
        </p:nvSpPr>
        <p:spPr>
          <a:xfrm>
            <a:off x="6710680" y="4768850"/>
            <a:ext cx="14351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AEB1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Stono Rebellion; Negro Act of 1740 follows</a:t>
            </a:r>
            <a:endParaRPr lang="en-US" sz="1200" dirty="0"/>
          </a:p>
        </p:txBody>
      </p:sp>
      <p:sp>
        <p:nvSpPr>
          <p:cNvPr id="56" name="Shape 53"/>
          <p:cNvSpPr/>
          <p:nvPr/>
        </p:nvSpPr>
        <p:spPr>
          <a:xfrm>
            <a:off x="7383780" y="3790950"/>
            <a:ext cx="0" cy="508000"/>
          </a:xfrm>
          <a:prstGeom prst="line">
            <a:avLst/>
          </a:prstGeom>
          <a:noFill/>
          <a:ln w="15875">
            <a:solidFill>
              <a:srgbClr val="5D606F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7294880" y="3613150"/>
            <a:ext cx="177800" cy="177800"/>
          </a:xfrm>
          <a:prstGeom prst="ellipse">
            <a:avLst/>
          </a:prstGeom>
          <a:solidFill>
            <a:srgbClr val="8E95A5"/>
          </a:solidFill>
          <a:ln w="25400">
            <a:solidFill>
              <a:srgbClr val="0C0D10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8295640" y="4298950"/>
            <a:ext cx="1612900" cy="1504950"/>
          </a:xfrm>
          <a:prstGeom prst="roundRect">
            <a:avLst>
              <a:gd name="adj" fmla="val 9114"/>
            </a:avLst>
          </a:prstGeom>
          <a:solidFill>
            <a:srgbClr val="17181D"/>
          </a:solidFill>
          <a:ln w="12700">
            <a:solidFill>
              <a:srgbClr val="2B2D35"/>
            </a:solidFill>
            <a:prstDash val="solid"/>
          </a:ln>
        </p:spPr>
      </p:sp>
      <p:sp>
        <p:nvSpPr>
          <p:cNvPr id="59" name="Text 56"/>
          <p:cNvSpPr txBox="1"/>
          <p:nvPr/>
        </p:nvSpPr>
        <p:spPr>
          <a:xfrm>
            <a:off x="8428990" y="4425950"/>
            <a:ext cx="13970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DEB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1780</a:t>
            </a:r>
            <a:endParaRPr lang="en-US" sz="1800" dirty="0"/>
          </a:p>
        </p:txBody>
      </p:sp>
      <p:sp>
        <p:nvSpPr>
          <p:cNvPr id="60" name="Text 57"/>
          <p:cNvSpPr txBox="1"/>
          <p:nvPr/>
        </p:nvSpPr>
        <p:spPr>
          <a:xfrm>
            <a:off x="8428990" y="4768850"/>
            <a:ext cx="14351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AEB1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British capture Charleston after a six‑week siege</a:t>
            </a:r>
            <a:endParaRPr lang="en-US" sz="1200" dirty="0"/>
          </a:p>
        </p:txBody>
      </p:sp>
      <p:sp>
        <p:nvSpPr>
          <p:cNvPr id="61" name="Shape 58"/>
          <p:cNvSpPr/>
          <p:nvPr/>
        </p:nvSpPr>
        <p:spPr>
          <a:xfrm>
            <a:off x="9102090" y="3790950"/>
            <a:ext cx="0" cy="508000"/>
          </a:xfrm>
          <a:prstGeom prst="line">
            <a:avLst/>
          </a:prstGeom>
          <a:noFill/>
          <a:ln w="15875">
            <a:solidFill>
              <a:srgbClr val="5D606F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9013190" y="3613150"/>
            <a:ext cx="177800" cy="177800"/>
          </a:xfrm>
          <a:prstGeom prst="ellipse">
            <a:avLst/>
          </a:prstGeom>
          <a:solidFill>
            <a:srgbClr val="8E95A5"/>
          </a:solidFill>
          <a:ln w="25400">
            <a:solidFill>
              <a:srgbClr val="0C0D10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10013950" y="4298950"/>
            <a:ext cx="1612900" cy="1504950"/>
          </a:xfrm>
          <a:prstGeom prst="roundRect">
            <a:avLst>
              <a:gd name="adj" fmla="val 9114"/>
            </a:avLst>
          </a:prstGeom>
          <a:solidFill>
            <a:srgbClr val="17181D"/>
          </a:solidFill>
          <a:ln w="12700">
            <a:solidFill>
              <a:srgbClr val="B44150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10147300" y="4425950"/>
            <a:ext cx="13970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0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1782–83</a:t>
            </a:r>
            <a:endParaRPr lang="en-US" sz="1800" dirty="0"/>
          </a:p>
        </p:txBody>
      </p:sp>
      <p:sp>
        <p:nvSpPr>
          <p:cNvPr id="65" name="Text 62"/>
          <p:cNvSpPr txBox="1"/>
          <p:nvPr/>
        </p:nvSpPr>
        <p:spPr>
          <a:xfrm>
            <a:off x="10147300" y="4768850"/>
            <a:ext cx="14351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AEB1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British leave Charleston (Dec. 1782); Treaty of Paris</a:t>
            </a:r>
            <a:endParaRPr lang="en-US" sz="1200" dirty="0"/>
          </a:p>
        </p:txBody>
      </p:sp>
      <p:sp>
        <p:nvSpPr>
          <p:cNvPr id="66" name="Shape 63"/>
          <p:cNvSpPr/>
          <p:nvPr/>
        </p:nvSpPr>
        <p:spPr>
          <a:xfrm>
            <a:off x="10820400" y="3790950"/>
            <a:ext cx="0" cy="508000"/>
          </a:xfrm>
          <a:prstGeom prst="line">
            <a:avLst/>
          </a:prstGeom>
          <a:noFill/>
          <a:ln w="15875">
            <a:solidFill>
              <a:srgbClr val="B44150"/>
            </a:solidFill>
            <a:prstDash val="solid"/>
          </a:ln>
        </p:spPr>
      </p:sp>
      <p:sp>
        <p:nvSpPr>
          <p:cNvPr id="67" name="Shape 64"/>
          <p:cNvSpPr/>
          <p:nvPr/>
        </p:nvSpPr>
        <p:spPr>
          <a:xfrm>
            <a:off x="10731500" y="3613150"/>
            <a:ext cx="177800" cy="177800"/>
          </a:xfrm>
          <a:prstGeom prst="ellipse">
            <a:avLst/>
          </a:prstGeom>
          <a:solidFill>
            <a:srgbClr val="B44150"/>
          </a:solidFill>
          <a:ln w="25400">
            <a:solidFill>
              <a:srgbClr val="0C0D10"/>
            </a:solidFill>
            <a:prstDash val="solid"/>
          </a:ln>
        </p:spPr>
      </p:sp>
      <p:sp>
        <p:nvSpPr>
          <p:cNvPr id="68" name="Text 65"/>
          <p:cNvSpPr txBox="1"/>
          <p:nvPr/>
        </p:nvSpPr>
        <p:spPr>
          <a:xfrm>
            <a:off x="546100" y="6007100"/>
            <a:ext cx="110934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7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5   </a:t>
            </a:r>
            <a:pPr indent="0" marL="0">
              <a:buNone/>
            </a:pPr>
            <a:r>
              <a:rPr lang="en-US" sz="1200" dirty="0">
                <a:solidFill>
                  <a:srgbClr val="AEB1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events from the founding through 1783. Red marks turning points: the first settlement, the royal takeover and the Revolution.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6100" y="323850"/>
            <a:ext cx="762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D97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 /   THE PITCH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6100" y="635000"/>
            <a:ext cx="1016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EDEB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Move to South Carolina?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6100" y="6464300"/>
            <a:ext cx="508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0" kern="0" dirty="0">
                <a:solidFill>
                  <a:srgbClr val="6F72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 CAROLINA   ·   1670–1783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95000" y="6445250"/>
            <a:ext cx="844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72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6100" y="1600200"/>
            <a:ext cx="4210050" cy="4565650"/>
          </a:xfrm>
          <a:prstGeom prst="roundRect">
            <a:avLst>
              <a:gd name="adj" fmla="val 4344"/>
            </a:avLst>
          </a:prstGeom>
          <a:solidFill>
            <a:srgbClr val="321F26"/>
          </a:solidFill>
          <a:ln w="12700">
            <a:solidFill>
              <a:srgbClr val="8A344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63600" y="1968500"/>
            <a:ext cx="37465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i="1" dirty="0">
                <a:solidFill>
                  <a:srgbClr val="EDEB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Come for the land.</a:t>
            </a:r>
            <a:endParaRPr lang="en-US" sz="3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000" i="1" dirty="0">
                <a:solidFill>
                  <a:srgbClr val="EDEB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Stay for the coast.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863600" y="3937000"/>
            <a:ext cx="365125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1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can South Carolina offer that other colonies cannot? Warm weather, cash crops that pay, a busy port and a say in how you are governed.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63600" y="5556250"/>
            <a:ext cx="3651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E7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this wealth rested on enslaved labor (see Economics).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029200" y="1600200"/>
            <a:ext cx="3244850" cy="1828800"/>
          </a:xfrm>
          <a:prstGeom prst="roundRect">
            <a:avLst>
              <a:gd name="adj" fmla="val 10000"/>
            </a:avLst>
          </a:prstGeom>
          <a:solidFill>
            <a:srgbClr val="17181D"/>
          </a:solidFill>
          <a:ln w="12700">
            <a:solidFill>
              <a:srgbClr val="2B2D35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283200" y="1790700"/>
            <a:ext cx="285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D970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Land that pays</a:t>
            </a:r>
            <a:endParaRPr lang="en-US" sz="1900" dirty="0"/>
          </a:p>
        </p:txBody>
      </p:sp>
      <p:sp>
        <p:nvSpPr>
          <p:cNvPr id="13" name="Text 10"/>
          <p:cNvSpPr txBox="1"/>
          <p:nvPr/>
        </p:nvSpPr>
        <p:spPr>
          <a:xfrm>
            <a:off x="5283200" y="2286000"/>
            <a:ext cx="2794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EB1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 coastal soil and a long, warm growing season. Rice and indigo made planters wealthy.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8394700" y="1600200"/>
            <a:ext cx="3244850" cy="1828800"/>
          </a:xfrm>
          <a:prstGeom prst="roundRect">
            <a:avLst>
              <a:gd name="adj" fmla="val 10000"/>
            </a:avLst>
          </a:prstGeom>
          <a:solidFill>
            <a:srgbClr val="17181D"/>
          </a:solidFill>
          <a:ln w="12700">
            <a:solidFill>
              <a:srgbClr val="2B2D35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648700" y="1790700"/>
            <a:ext cx="285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D970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booming port</a:t>
            </a:r>
            <a:endParaRPr lang="en-US" sz="1900" dirty="0"/>
          </a:p>
        </p:txBody>
      </p:sp>
      <p:sp>
        <p:nvSpPr>
          <p:cNvPr id="16" name="Text 13"/>
          <p:cNvSpPr txBox="1"/>
          <p:nvPr/>
        </p:nvSpPr>
        <p:spPr>
          <a:xfrm>
            <a:off x="8648700" y="2286000"/>
            <a:ext cx="2794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EB1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Charles Town linked the colony to Britain, Barbados and the wider Atlantic world.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5029200" y="3587750"/>
            <a:ext cx="3244850" cy="1828800"/>
          </a:xfrm>
          <a:prstGeom prst="roundRect">
            <a:avLst>
              <a:gd name="adj" fmla="val 10000"/>
            </a:avLst>
          </a:prstGeom>
          <a:solidFill>
            <a:srgbClr val="17181D"/>
          </a:solidFill>
          <a:ln w="12700">
            <a:solidFill>
              <a:srgbClr val="2B2D35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283200" y="3778250"/>
            <a:ext cx="285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D970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Freedom to worship</a:t>
            </a:r>
            <a:endParaRPr lang="en-US" sz="1900" dirty="0"/>
          </a:p>
        </p:txBody>
      </p:sp>
      <p:sp>
        <p:nvSpPr>
          <p:cNvPr id="19" name="Text 16"/>
          <p:cNvSpPr txBox="1"/>
          <p:nvPr/>
        </p:nvSpPr>
        <p:spPr>
          <a:xfrm>
            <a:off x="5283200" y="4273550"/>
            <a:ext cx="2794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EB1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Presbyterians, Baptists, Quakers, Huguenots and Jews settled here, and dissenters could vote.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8394700" y="3587750"/>
            <a:ext cx="3244850" cy="1828800"/>
          </a:xfrm>
          <a:prstGeom prst="roundRect">
            <a:avLst>
              <a:gd name="adj" fmla="val 10000"/>
            </a:avLst>
          </a:prstGeom>
          <a:solidFill>
            <a:srgbClr val="17181D"/>
          </a:solidFill>
          <a:ln w="12700">
            <a:solidFill>
              <a:srgbClr val="2B2D35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8700" y="3778250"/>
            <a:ext cx="285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D970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real voice</a:t>
            </a:r>
            <a:endParaRPr lang="en-US" sz="1900" dirty="0"/>
          </a:p>
        </p:txBody>
      </p:sp>
      <p:sp>
        <p:nvSpPr>
          <p:cNvPr id="22" name="Text 19"/>
          <p:cNvSpPr txBox="1"/>
          <p:nvPr/>
        </p:nvSpPr>
        <p:spPr>
          <a:xfrm>
            <a:off x="8648700" y="4273550"/>
            <a:ext cx="2794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EB1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Landowning men could sit in the elected Commons House, the colony’s most powerful body.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5029200" y="5575300"/>
            <a:ext cx="6610350" cy="590550"/>
          </a:xfrm>
          <a:prstGeom prst="roundRect">
            <a:avLst>
              <a:gd name="adj" fmla="val 50000"/>
            </a:avLst>
          </a:prstGeom>
          <a:solidFill>
            <a:srgbClr val="B44150"/>
          </a:solidFill>
          <a:ln w="12700">
            <a:solidFill>
              <a:srgbClr val="B44150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5029200" y="5575300"/>
            <a:ext cx="66103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move: pack your bags for Charles Town.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6100" y="323850"/>
            <a:ext cx="762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D97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 /   WORKS CITED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6100" y="635000"/>
            <a:ext cx="1016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EDEB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Works Cited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6100" y="6464300"/>
            <a:ext cx="508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0" kern="0" dirty="0">
                <a:solidFill>
                  <a:srgbClr val="6F72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 CAROLINA   ·   1670–1783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95000" y="6445250"/>
            <a:ext cx="844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72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6100" y="1555750"/>
            <a:ext cx="11093450" cy="4476750"/>
          </a:xfrm>
          <a:prstGeom prst="roundRect">
            <a:avLst>
              <a:gd name="adj" fmla="val 4085"/>
            </a:avLst>
          </a:prstGeom>
          <a:solidFill>
            <a:srgbClr val="17181D"/>
          </a:solidFill>
          <a:ln w="12700">
            <a:solidFill>
              <a:srgbClr val="2B2D35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00100" y="1765300"/>
            <a:ext cx="3333750" cy="412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AEB1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“Atlas of South Carolina, Third Edition.” </a:t>
            </a:r>
            <a:pPr indent="0" marL="0">
              <a:lnSpc>
                <a:spcPct val="100000"/>
              </a:lnSpc>
              <a:spcAft>
                <a:spcPts val="700"/>
              </a:spcAft>
              <a:buNone/>
            </a:pPr>
            <a:r>
              <a:rPr lang="en-US" sz="1150" i="1" dirty="0">
                <a:solidFill>
                  <a:srgbClr val="EDEB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 Carolina Geographic Alliance</a:t>
            </a:r>
            <a:pPr indent="0" marL="0">
              <a:lnSpc>
                <a:spcPct val="100000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AEB1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manifold.sc.edu.</a:t>
            </a:r>
            <a:endParaRPr lang="en-US" sz="1150" dirty="0"/>
          </a:p>
          <a:p>
            <a:pPr indent="0" marL="0">
              <a:lnSpc>
                <a:spcPct val="100000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AEB1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Behre, Robert. “22 SC Sites Where the Fighting Was Fiercest in the Revolutionary and Civil Wars.” </a:t>
            </a:r>
            <a:pPr indent="0" marL="0">
              <a:lnSpc>
                <a:spcPct val="100000"/>
              </a:lnSpc>
              <a:spcAft>
                <a:spcPts val="700"/>
              </a:spcAft>
              <a:buNone/>
            </a:pPr>
            <a:r>
              <a:rPr lang="en-US" sz="1150" i="1" dirty="0">
                <a:solidFill>
                  <a:srgbClr val="EDEB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Post and Courier</a:t>
            </a:r>
            <a:pPr indent="0" marL="0">
              <a:lnSpc>
                <a:spcPct val="100000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AEB1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30 June 2019, postandcourier.com.</a:t>
            </a:r>
            <a:endParaRPr lang="en-US" sz="1150" dirty="0"/>
          </a:p>
          <a:p>
            <a:pPr indent="0" marL="0">
              <a:lnSpc>
                <a:spcPct val="100000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AEB1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“Blackbeard’s Terror.” </a:t>
            </a:r>
            <a:pPr indent="0" marL="0">
              <a:lnSpc>
                <a:spcPct val="100000"/>
              </a:lnSpc>
              <a:spcAft>
                <a:spcPts val="700"/>
              </a:spcAft>
              <a:buNone/>
            </a:pPr>
            <a:r>
              <a:rPr lang="en-US" sz="1150" i="1" dirty="0">
                <a:solidFill>
                  <a:srgbClr val="EDEB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American Heritage</a:t>
            </a:r>
            <a:pPr indent="0" marL="0">
              <a:lnSpc>
                <a:spcPct val="100000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AEB1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americanheritage.com/blackbeards-terror.</a:t>
            </a:r>
            <a:endParaRPr lang="en-US" sz="1150" dirty="0"/>
          </a:p>
          <a:p>
            <a:pPr indent="0" marL="0">
              <a:lnSpc>
                <a:spcPct val="100000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AEB1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Butler, Nic. “The Carolina Charter of 1663.” </a:t>
            </a:r>
            <a:pPr indent="0" marL="0">
              <a:lnSpc>
                <a:spcPct val="100000"/>
              </a:lnSpc>
              <a:spcAft>
                <a:spcPts val="700"/>
              </a:spcAft>
              <a:buNone/>
            </a:pPr>
            <a:r>
              <a:rPr lang="en-US" sz="1150" i="1" dirty="0">
                <a:solidFill>
                  <a:srgbClr val="EDEB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Charleston County Public Library</a:t>
            </a:r>
            <a:pPr indent="0" marL="0">
              <a:lnSpc>
                <a:spcPct val="100000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AEB1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27 Dec. 2019, ccpl.org/node/17535.</a:t>
            </a:r>
            <a:endParaRPr lang="en-US" sz="1150" dirty="0"/>
          </a:p>
          <a:p>
            <a:pPr indent="0" marL="0">
              <a:lnSpc>
                <a:spcPct val="100000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AEB1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“Charleston in the Revolutionary War.” </a:t>
            </a:r>
            <a:pPr indent="0" marL="0">
              <a:lnSpc>
                <a:spcPct val="100000"/>
              </a:lnSpc>
              <a:spcAft>
                <a:spcPts val="700"/>
              </a:spcAft>
              <a:buNone/>
            </a:pPr>
            <a:r>
              <a:rPr lang="en-US" sz="1150" i="1" dirty="0">
                <a:solidFill>
                  <a:srgbClr val="EDEB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American Battlefield Trust</a:t>
            </a:r>
            <a:pPr indent="0" marL="0">
              <a:lnSpc>
                <a:spcPct val="100000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AEB1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battlefields.org/learn/articles/charleston-revolutionary-war.</a:t>
            </a:r>
            <a:endParaRPr lang="en-US" sz="1150" dirty="0"/>
          </a:p>
          <a:p>
            <a:pPr indent="0" marL="0">
              <a:lnSpc>
                <a:spcPct val="100000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AEB1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 Chronicle of Significant Events, Battles, and Skirmishes.” </a:t>
            </a:r>
            <a:pPr indent="0" marL="0">
              <a:lnSpc>
                <a:spcPct val="100000"/>
              </a:lnSpc>
              <a:spcAft>
                <a:spcPts val="700"/>
              </a:spcAft>
              <a:buNone/>
            </a:pPr>
            <a:r>
              <a:rPr lang="en-US" sz="1150" i="1" dirty="0">
                <a:solidFill>
                  <a:srgbClr val="EDEB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 Dorchester, SC Society SAR</a:t>
            </a:r>
            <a:pPr indent="0" marL="0">
              <a:lnSpc>
                <a:spcPct val="100000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AEB1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fortdorchester.scssar.org/?p=663.</a:t>
            </a:r>
            <a:endParaRPr lang="en-US" sz="1150" dirty="0"/>
          </a:p>
          <a:p>
            <a:pPr indent="0" marL="0">
              <a:lnSpc>
                <a:spcPct val="100000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AEB1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“Church Act.” </a:t>
            </a:r>
            <a:pPr indent="0" marL="0">
              <a:lnSpc>
                <a:spcPct val="100000"/>
              </a:lnSpc>
              <a:spcAft>
                <a:spcPts val="700"/>
              </a:spcAft>
              <a:buNone/>
            </a:pPr>
            <a:r>
              <a:rPr lang="en-US" sz="1150" i="1" dirty="0">
                <a:solidFill>
                  <a:srgbClr val="EDEB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 Carolina Encyclopedia</a:t>
            </a:r>
            <a:pPr indent="0" marL="0">
              <a:lnSpc>
                <a:spcPct val="100000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AEB1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scencyclopedia.org/sce/?p=3102.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4438650" y="1765300"/>
            <a:ext cx="3333750" cy="412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AEB1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“Colonial Economy.” </a:t>
            </a:r>
            <a:pPr indent="0" marL="0">
              <a:lnSpc>
                <a:spcPct val="100000"/>
              </a:lnSpc>
              <a:spcAft>
                <a:spcPts val="700"/>
              </a:spcAft>
              <a:buNone/>
            </a:pPr>
            <a:r>
              <a:rPr lang="en-US" sz="1150" i="1" dirty="0">
                <a:solidFill>
                  <a:srgbClr val="EDEB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It All, SCETV</a:t>
            </a:r>
            <a:pPr indent="0" marL="0">
              <a:lnSpc>
                <a:spcPct val="100000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AEB1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knowitall.org/subject/sc-history/settlement-south-carolina/colonial-economy.</a:t>
            </a:r>
            <a:endParaRPr lang="en-US" sz="1150" dirty="0"/>
          </a:p>
          <a:p>
            <a:pPr indent="0" marL="0">
              <a:lnSpc>
                <a:spcPct val="100000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AEB1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“Commons House of Assembly.” </a:t>
            </a:r>
            <a:pPr indent="0" marL="0">
              <a:lnSpc>
                <a:spcPct val="100000"/>
              </a:lnSpc>
              <a:spcAft>
                <a:spcPts val="700"/>
              </a:spcAft>
              <a:buNone/>
            </a:pPr>
            <a:r>
              <a:rPr lang="en-US" sz="1150" i="1" dirty="0">
                <a:solidFill>
                  <a:srgbClr val="EDEB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 Carolina Encyclopedia</a:t>
            </a:r>
            <a:pPr indent="0" marL="0">
              <a:lnSpc>
                <a:spcPct val="100000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AEB1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scencyclopedia.org/sce/?p=3163.</a:t>
            </a:r>
            <a:endParaRPr lang="en-US" sz="1150" dirty="0"/>
          </a:p>
          <a:p>
            <a:pPr indent="0" marL="0">
              <a:lnSpc>
                <a:spcPct val="100000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AEB1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“Dissenters.” </a:t>
            </a:r>
            <a:pPr indent="0" marL="0">
              <a:lnSpc>
                <a:spcPct val="100000"/>
              </a:lnSpc>
              <a:spcAft>
                <a:spcPts val="700"/>
              </a:spcAft>
              <a:buNone/>
            </a:pPr>
            <a:r>
              <a:rPr lang="en-US" sz="1150" i="1" dirty="0">
                <a:solidFill>
                  <a:srgbClr val="EDEB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 Carolina Encyclopedia</a:t>
            </a:r>
            <a:pPr indent="0" marL="0">
              <a:lnSpc>
                <a:spcPct val="100000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AEB1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scencyclopedia.org/sce/entries/dissenters/.</a:t>
            </a:r>
            <a:endParaRPr lang="en-US" sz="1150" dirty="0"/>
          </a:p>
          <a:p>
            <a:pPr indent="0" marL="0">
              <a:lnSpc>
                <a:spcPct val="100000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AEB1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Founding of Carolina.” </a:t>
            </a:r>
            <a:pPr indent="0" marL="0">
              <a:lnSpc>
                <a:spcPct val="100000"/>
              </a:lnSpc>
              <a:spcAft>
                <a:spcPts val="700"/>
              </a:spcAft>
              <a:buNone/>
            </a:pPr>
            <a:r>
              <a:rPr lang="en-US" sz="1150" i="1" dirty="0">
                <a:solidFill>
                  <a:srgbClr val="EDEB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Inland Rice Project, Charleston County</a:t>
            </a:r>
            <a:pPr indent="0" marL="0">
              <a:lnSpc>
                <a:spcPct val="100000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AEB1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inlandrice.charlestoncounty.org/founding.html.</a:t>
            </a:r>
            <a:endParaRPr lang="en-US" sz="1150" dirty="0"/>
          </a:p>
          <a:p>
            <a:pPr indent="0" marL="0">
              <a:lnSpc>
                <a:spcPct val="100000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AEB1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Greene, Harlan. “The Founding.” </a:t>
            </a:r>
            <a:pPr indent="0" marL="0">
              <a:lnSpc>
                <a:spcPct val="100000"/>
              </a:lnSpc>
              <a:spcAft>
                <a:spcPts val="700"/>
              </a:spcAft>
              <a:buNone/>
            </a:pPr>
            <a:r>
              <a:rPr lang="en-US" sz="1150" i="1" dirty="0">
                <a:solidFill>
                  <a:srgbClr val="EDEB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Charleston Living</a:t>
            </a:r>
            <a:pPr indent="0" marL="0">
              <a:lnSpc>
                <a:spcPct val="100000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AEB1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30 Mar. 2013, charlestonlivingmag.com/the-founding.</a:t>
            </a:r>
            <a:endParaRPr lang="en-US" sz="1150" dirty="0"/>
          </a:p>
          <a:p>
            <a:pPr indent="0" marL="0">
              <a:lnSpc>
                <a:spcPct val="100000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AEB1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 History of Charles Town, South Carolina.” </a:t>
            </a:r>
            <a:pPr indent="0" marL="0">
              <a:lnSpc>
                <a:spcPct val="100000"/>
              </a:lnSpc>
              <a:spcAft>
                <a:spcPts val="700"/>
              </a:spcAft>
              <a:buNone/>
            </a:pPr>
            <a:r>
              <a:rPr lang="en-US" sz="1150" i="1" dirty="0">
                <a:solidFill>
                  <a:srgbClr val="EDEB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Carolana</a:t>
            </a:r>
            <a:pPr indent="0" marL="0">
              <a:lnSpc>
                <a:spcPct val="100000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AEB1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carolana.com/SC/Towns/Charles_Town_SC.html.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8077200" y="1765300"/>
            <a:ext cx="3333750" cy="412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AEB1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James Poyas Daybook: Historical Context.” </a:t>
            </a:r>
            <a:pPr indent="0" marL="0">
              <a:lnSpc>
                <a:spcPct val="100000"/>
              </a:lnSpc>
              <a:spcAft>
                <a:spcPts val="700"/>
              </a:spcAft>
              <a:buNone/>
            </a:pPr>
            <a:r>
              <a:rPr lang="en-US" sz="1150" i="1" dirty="0">
                <a:solidFill>
                  <a:srgbClr val="EDEB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Lowcountry Digital History Initiative</a:t>
            </a:r>
            <a:pPr indent="0" marL="0">
              <a:lnSpc>
                <a:spcPct val="100000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AEB1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ldhi.library.cofc.edu.</a:t>
            </a:r>
            <a:endParaRPr lang="en-US" sz="1150" dirty="0"/>
          </a:p>
          <a:p>
            <a:pPr indent="0" marL="0">
              <a:lnSpc>
                <a:spcPct val="100000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AEB1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“Life Story: Eliza Lucas Pinckney.” </a:t>
            </a:r>
            <a:pPr indent="0" marL="0">
              <a:lnSpc>
                <a:spcPct val="100000"/>
              </a:lnSpc>
              <a:spcAft>
                <a:spcPts val="700"/>
              </a:spcAft>
              <a:buNone/>
            </a:pPr>
            <a:r>
              <a:rPr lang="en-US" sz="1150" i="1" dirty="0">
                <a:solidFill>
                  <a:srgbClr val="EDEB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New-York Historical Society</a:t>
            </a:r>
            <a:pPr indent="0" marL="0">
              <a:lnSpc>
                <a:spcPct val="100000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AEB1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wams.nyhistory.org.</a:t>
            </a:r>
            <a:endParaRPr lang="en-US" sz="1150" dirty="0"/>
          </a:p>
          <a:p>
            <a:pPr indent="0" marL="0">
              <a:lnSpc>
                <a:spcPct val="100000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AEB1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“Slave Codes.” </a:t>
            </a:r>
            <a:pPr indent="0" marL="0">
              <a:lnSpc>
                <a:spcPct val="100000"/>
              </a:lnSpc>
              <a:spcAft>
                <a:spcPts val="700"/>
              </a:spcAft>
              <a:buNone/>
            </a:pPr>
            <a:r>
              <a:rPr lang="en-US" sz="1150" i="1" dirty="0">
                <a:solidFill>
                  <a:srgbClr val="EDEB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 Carolina Encyclopedia</a:t>
            </a:r>
            <a:pPr indent="0" marL="0">
              <a:lnSpc>
                <a:spcPct val="100000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AEB1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scencyclopedia.org/sce/entries/slave-codes/.</a:t>
            </a:r>
            <a:endParaRPr lang="en-US" sz="1150" dirty="0"/>
          </a:p>
          <a:p>
            <a:pPr indent="0" marL="0">
              <a:lnSpc>
                <a:spcPct val="100000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AEB1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“South Carolina.” </a:t>
            </a:r>
            <a:pPr indent="0" marL="0">
              <a:lnSpc>
                <a:spcPct val="100000"/>
              </a:lnSpc>
              <a:spcAft>
                <a:spcPts val="700"/>
              </a:spcAft>
              <a:buNone/>
            </a:pPr>
            <a:r>
              <a:rPr lang="en-US" sz="1150" i="1" dirty="0">
                <a:solidFill>
                  <a:srgbClr val="EDEB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Encyclopaedia Britannica</a:t>
            </a:r>
            <a:pPr indent="0" marL="0">
              <a:lnSpc>
                <a:spcPct val="100000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AEB1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britannica.com/place/South-Carolina.</a:t>
            </a:r>
            <a:endParaRPr lang="en-US" sz="1150" dirty="0"/>
          </a:p>
          <a:p>
            <a:pPr indent="0" marL="0">
              <a:lnSpc>
                <a:spcPct val="100000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AEB1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“South Carolina’s Early History of Immigrant Religious Diversity.” </a:t>
            </a:r>
            <a:pPr indent="0" marL="0">
              <a:lnSpc>
                <a:spcPct val="100000"/>
              </a:lnSpc>
              <a:spcAft>
                <a:spcPts val="700"/>
              </a:spcAft>
              <a:buNone/>
            </a:pPr>
            <a:r>
              <a:rPr lang="en-US" sz="1150" i="1" dirty="0">
                <a:solidFill>
                  <a:srgbClr val="EDEB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Clemson Humanities Hub</a:t>
            </a:r>
            <a:pPr indent="0" marL="0">
              <a:lnSpc>
                <a:spcPct val="100000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AEB1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4 Feb. 2017, blogs.clemson.edu/humanitieshub.</a:t>
            </a:r>
            <a:endParaRPr lang="en-US" sz="1150" dirty="0"/>
          </a:p>
          <a:p>
            <a:pPr indent="0" marL="0">
              <a:lnSpc>
                <a:spcPct val="100000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AEB1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Yamasee War, 1715.” </a:t>
            </a:r>
            <a:pPr indent="0" marL="0">
              <a:lnSpc>
                <a:spcPct val="100000"/>
              </a:lnSpc>
              <a:spcAft>
                <a:spcPts val="700"/>
              </a:spcAft>
              <a:buNone/>
            </a:pPr>
            <a:r>
              <a:rPr lang="en-US" sz="1150" i="1" dirty="0">
                <a:solidFill>
                  <a:srgbClr val="EDEB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Haywood County GenWeb</a:t>
            </a:r>
            <a:pPr indent="0" marL="0">
              <a:lnSpc>
                <a:spcPct val="100000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AEB1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tngenweb.org/haywood/the-yamasee-war-1715/.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546100" y="6108700"/>
            <a:ext cx="11093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F72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Illustrations and the map were created for this project (not historical photographs). Map outline from modern U.S. county boundary data. All sources accessed 15 Oct. 2026.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South Carolina Colony</dc:title>
  <dc:subject>PptxGenJS Presentation</dc:subject>
  <dc:creator>Maksym Shchastenko</dc:creator>
  <cp:lastModifiedBy>Maksym Shchastenko</cp:lastModifiedBy>
  <cp:revision>1</cp:revision>
  <dcterms:created xsi:type="dcterms:W3CDTF">2026-10-19T14:01:39Z</dcterms:created>
  <dcterms:modified xsi:type="dcterms:W3CDTF">2026-10-19T14:01:39Z</dcterms:modified>
</cp:coreProperties>
</file>